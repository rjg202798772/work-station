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12.9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点云扩散模型架构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5510" y="1907540"/>
            <a:ext cx="4853305" cy="3253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8815" y="1907540"/>
            <a:ext cx="6156325" cy="55657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从图像特征、时间步</a:t>
            </a:r>
            <a:r>
              <a:rPr lang="en-US" altLang="zh-CN"/>
              <a:t>t</a:t>
            </a:r>
            <a:r>
              <a:rPr lang="zh-CN" altLang="en-US">
                <a:sym typeface="+mn-ea"/>
              </a:rPr>
              <a:t>、带噪点云</a:t>
            </a:r>
            <a:r>
              <a:rPr lang="en-US" altLang="zh-CN">
                <a:sym typeface="+mn-ea"/>
              </a:rPr>
              <a:t>Xt</a:t>
            </a:r>
            <a:r>
              <a:rPr lang="zh-CN" altLang="en-US"/>
              <a:t>中预测样本</a:t>
            </a:r>
            <a:r>
              <a:rPr lang="en-US" altLang="zh-CN"/>
              <a:t>xt</a:t>
            </a:r>
            <a:r>
              <a:rPr lang="zh-CN" altLang="en-US"/>
              <a:t>中的有效噪声</a:t>
            </a:r>
            <a:r>
              <a:rPr lang="zh-CN" altLang="en-US"/>
              <a:t>（</a:t>
            </a:r>
            <a:r>
              <a:rPr lang="en-US" altLang="en-US"/>
              <a:t>ϵ</a:t>
            </a:r>
            <a:r>
              <a:rPr lang="zh-CN" altLang="en-US"/>
              <a:t>）和方差（</a:t>
            </a:r>
            <a:r>
              <a:rPr lang="en-US" altLang="zh-CN"/>
              <a:t>Σ</a:t>
            </a:r>
            <a:r>
              <a:rPr lang="zh-CN" altLang="en-US"/>
              <a:t>）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将点云表示为</a:t>
            </a:r>
            <a:r>
              <a:rPr lang="en-US" altLang="zh-CN"/>
              <a:t>K</a:t>
            </a:r>
            <a:r>
              <a:rPr lang="en-US" altLang="en-US"/>
              <a:t>×</a:t>
            </a:r>
            <a:r>
              <a:rPr lang="en-US" altLang="zh-CN"/>
              <a:t> 6</a:t>
            </a:r>
            <a:r>
              <a:rPr lang="zh-CN" altLang="en-US"/>
              <a:t>维度的张量，其中</a:t>
            </a:r>
            <a:r>
              <a:rPr lang="en-US" altLang="zh-CN"/>
              <a:t>K</a:t>
            </a:r>
            <a:r>
              <a:rPr lang="zh-CN" altLang="en-US"/>
              <a:t>代表点云数量，内维度包含（</a:t>
            </a:r>
            <a:r>
              <a:rPr lang="en-US" altLang="zh-CN"/>
              <a:t>x</a:t>
            </a:r>
            <a:r>
              <a:rPr lang="zh-CN" altLang="en-US"/>
              <a:t>，</a:t>
            </a:r>
            <a:r>
              <a:rPr lang="en-US" altLang="zh-CN"/>
              <a:t>y</a:t>
            </a:r>
            <a:r>
              <a:rPr lang="zh-CN" altLang="en-US"/>
              <a:t>，</a:t>
            </a:r>
            <a:r>
              <a:rPr lang="en-US" altLang="zh-CN"/>
              <a:t>z</a:t>
            </a:r>
            <a:r>
              <a:rPr lang="zh-CN" altLang="en-US"/>
              <a:t>）坐标和（</a:t>
            </a:r>
            <a:r>
              <a:rPr lang="en-US" altLang="zh-CN"/>
              <a:t>R</a:t>
            </a:r>
            <a:r>
              <a:rPr lang="zh-CN" altLang="en-US"/>
              <a:t>，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）颜色值。</a:t>
            </a:r>
            <a:r>
              <a:rPr lang="zh-CN" altLang="en-US">
                <a:sym typeface="+mn-ea"/>
              </a:rPr>
              <a:t>从</a:t>
            </a:r>
            <a:r>
              <a:rPr lang="en-US" altLang="zh-CN">
                <a:sym typeface="+mn-ea"/>
              </a:rPr>
              <a:t>K</a:t>
            </a:r>
            <a:r>
              <a:rPr lang="en-US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 6</a:t>
            </a:r>
            <a:r>
              <a:rPr lang="zh-CN" altLang="en-US">
                <a:sym typeface="+mn-ea"/>
              </a:rPr>
              <a:t>维度的随机噪声出发，通过扩散过程直接生成这些张量，并逐步去除噪声。</a:t>
            </a:r>
            <a:r>
              <a:rPr lang="zh-CN" altLang="en-US"/>
              <a:t>作为输入上下文，通过线性层处理点云中的每个点，输出维度为</a:t>
            </a:r>
            <a:r>
              <a:rPr lang="en-US" altLang="zh-CN"/>
              <a:t>D</a:t>
            </a:r>
            <a:r>
              <a:rPr lang="zh-CN" altLang="en-US"/>
              <a:t>，获得</a:t>
            </a:r>
            <a:r>
              <a:rPr lang="en-US" altLang="zh-CN"/>
              <a:t>K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的输入张量。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/>
              <a:t>点云扩散模型架构</a:t>
            </a:r>
            <a:endParaRPr lang="zh-CN" altLang="en-US" sz="32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5510" y="1907540"/>
            <a:ext cx="4853305" cy="32531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58815" y="1610995"/>
            <a:ext cx="6166485" cy="2832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zh-CN" altLang="en-US"/>
          </a:p>
          <a:p>
            <a:r>
              <a:rPr lang="zh-CN" altLang="en-US"/>
              <a:t>从该</a:t>
            </a:r>
            <a:r>
              <a:rPr lang="en-US" altLang="zh-CN"/>
              <a:t>CLIP</a:t>
            </a:r>
            <a:r>
              <a:rPr lang="zh-CN" altLang="en-US"/>
              <a:t>模型（维度为</a:t>
            </a:r>
            <a:r>
              <a:rPr lang="en-US" altLang="zh-CN"/>
              <a:t>256 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）的末层嵌入向量中提取特征，将其线性投影到另一个</a:t>
            </a:r>
            <a:r>
              <a:rPr lang="en-US" altLang="zh-CN"/>
              <a:t>256 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的张量空间后，再与</a:t>
            </a:r>
            <a:r>
              <a:rPr lang="en-US" altLang="zh-CN"/>
              <a:t>Transformer</a:t>
            </a:r>
            <a:r>
              <a:rPr lang="zh-CN" altLang="en-US"/>
              <a:t>上下文进行拼接。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模型的最终输入上下文是形状（</a:t>
            </a:r>
            <a:r>
              <a:rPr lang="en-US" altLang="zh-CN"/>
              <a:t>K+257</a:t>
            </a:r>
            <a:r>
              <a:rPr lang="zh-CN" altLang="en-US"/>
              <a:t>）</a:t>
            </a:r>
            <a:r>
              <a:rPr lang="en-US" altLang="en-US"/>
              <a:t>×</a:t>
            </a:r>
            <a:r>
              <a:rPr lang="en-US" altLang="zh-CN"/>
              <a:t>D</a:t>
            </a:r>
            <a:r>
              <a:rPr lang="zh-CN" altLang="en-US"/>
              <a:t>。为了获得长度为</a:t>
            </a:r>
            <a:r>
              <a:rPr lang="en-US" altLang="zh-CN"/>
              <a:t>K</a:t>
            </a:r>
            <a:r>
              <a:rPr lang="zh-CN" altLang="en-US"/>
              <a:t>的最终输出序列，取输出的最后</a:t>
            </a:r>
            <a:r>
              <a:rPr lang="en-US" altLang="zh-CN"/>
              <a:t>K</a:t>
            </a:r>
            <a:r>
              <a:rPr lang="zh-CN" altLang="en-US"/>
              <a:t>个标记，并将其投影以获得</a:t>
            </a:r>
            <a:r>
              <a:rPr lang="en-US" altLang="zh-CN"/>
              <a:t>K</a:t>
            </a:r>
            <a:r>
              <a:rPr lang="zh-CN" altLang="en-US"/>
              <a:t>个输入点的</a:t>
            </a:r>
            <a:r>
              <a:rPr lang="en-US" altLang="en-US">
                <a:sym typeface="+mn-ea"/>
              </a:rPr>
              <a:t>ϵ</a:t>
            </a:r>
            <a:r>
              <a:rPr lang="zh-CN" altLang="en-US"/>
              <a:t>和</a:t>
            </a:r>
            <a:r>
              <a:rPr lang="en-US" altLang="zh-CN"/>
              <a:t> Σ </a:t>
            </a:r>
            <a:r>
              <a:rPr lang="zh-CN" altLang="en-US"/>
              <a:t>预测。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030" y="671830"/>
            <a:ext cx="4383405" cy="6819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5800" y="2327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2540" indent="-2540" algn="l"/>
            <a:r>
              <a:rPr lang="zh-CN" altLang="en-US" sz="1600" b="0" i="0">
                <a:solidFill>
                  <a:srgbClr val="000000"/>
                </a:solidFill>
                <a:latin typeface="CustomTranslateFont"/>
                <a:ea typeface="CustomTranslateFont"/>
              </a:rPr>
              <a:t>高斯扩散框架下，定义了一个噪声过程：</a:t>
            </a:r>
            <a:endParaRPr lang="zh-CN" altLang="en-US" sz="1600" b="0" i="0">
              <a:solidFill>
                <a:srgbClr val="000000"/>
              </a:solidFill>
              <a:latin typeface="CustomTranslateFont"/>
              <a:ea typeface="CustomTranslateFon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0870" y="1455420"/>
            <a:ext cx="9014460" cy="3406775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在训练扩散模型时，将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q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（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xt-1|xt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）近似为神经网络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p θ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（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xt-1|xt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）的输出。具体实现时，从随机高斯噪声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xT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开始，通过逐步反向施加噪声处理，最终得到无噪声样本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x0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。当采用足够多的小步长时，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pθ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（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xt-1|xt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）可参数化为对角高斯分布。可以通过预测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∈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（即样本</a:t>
            </a:r>
            <a:r>
              <a:rPr lang="en-US" altLang="zh-CN" b="0" i="0">
                <a:solidFill>
                  <a:srgbClr val="000000"/>
                </a:solidFill>
                <a:ea typeface="Inter"/>
                <a:cs typeface="+mn-lt"/>
              </a:rPr>
              <a:t>xt</a:t>
            </a:r>
            <a:r>
              <a:rPr lang="zh-CN" altLang="en-US" b="0" i="0">
                <a:solidFill>
                  <a:srgbClr val="000000"/>
                </a:solidFill>
                <a:ea typeface="Inter"/>
                <a:cs typeface="+mn-lt"/>
              </a:rPr>
              <a:t>中的有效噪声）来参数化该分布的均值。</a:t>
            </a:r>
            <a:endParaRPr lang="zh-CN" altLang="en-US" b="0" i="0">
              <a:solidFill>
                <a:srgbClr val="000000"/>
              </a:solidFill>
              <a:ea typeface="Inter"/>
              <a:cs typeface="+mn-lt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0" i="0">
              <a:solidFill>
                <a:srgbClr val="000000"/>
              </a:solidFill>
              <a:ea typeface="Inter"/>
              <a:cs typeface="+mn-lt"/>
            </a:endParaRPr>
          </a:p>
          <a:p>
            <a:pPr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b="0" i="0">
              <a:solidFill>
                <a:srgbClr val="000000"/>
              </a:solidFill>
              <a:ea typeface="Inter"/>
              <a:cs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7075" y="243205"/>
            <a:ext cx="3365500" cy="811530"/>
          </a:xfrm>
        </p:spPr>
        <p:txBody>
          <a:bodyPr/>
          <a:p>
            <a:r>
              <a:rPr lang="zh-CN" altLang="en-US" sz="2800"/>
              <a:t>点云上采样器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5155" y="1186815"/>
            <a:ext cx="10768965" cy="1217930"/>
          </a:xfrm>
        </p:spPr>
        <p:txBody>
          <a:bodyPr/>
          <a:p>
            <a:r>
              <a:rPr lang="zh-CN" altLang="en-US" sz="1800"/>
              <a:t>先用大型基础模型生成</a:t>
            </a:r>
            <a:r>
              <a:rPr lang="en-US" altLang="zh-CN" sz="1800"/>
              <a:t>1K</a:t>
            </a:r>
            <a:r>
              <a:rPr lang="zh-CN" altLang="en-US" sz="1800"/>
              <a:t>个点，再通过小型上采样模型将点数提升至</a:t>
            </a:r>
            <a:r>
              <a:rPr lang="en-US" altLang="zh-CN" sz="1800"/>
              <a:t>4K</a:t>
            </a:r>
            <a:r>
              <a:rPr lang="zh-CN" altLang="en-US" sz="1800"/>
              <a:t>。值得注意的是，模型的计算需求与点数呈线性增长，因此在固定模型规模下，生成</a:t>
            </a:r>
            <a:r>
              <a:rPr lang="en-US" altLang="zh-CN" sz="1800"/>
              <a:t>4K</a:t>
            </a:r>
            <a:r>
              <a:rPr lang="zh-CN" altLang="en-US" sz="1800"/>
              <a:t>点的计算成本是</a:t>
            </a:r>
            <a:r>
              <a:rPr lang="en-US" altLang="zh-CN" sz="1800"/>
              <a:t>1K</a:t>
            </a:r>
            <a:r>
              <a:rPr lang="zh-CN" altLang="en-US" sz="1800"/>
              <a:t>点的四倍。</a:t>
            </a:r>
            <a:endParaRPr lang="zh-CN" altLang="en-US" sz="180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27075" y="2537460"/>
            <a:ext cx="3060700" cy="104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/>
              <a:t>Transformer</a:t>
            </a:r>
            <a:endParaRPr lang="zh-CN" altLang="en-US" sz="2800"/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605155" y="3580130"/>
            <a:ext cx="10768965" cy="121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核心是通过</a:t>
            </a:r>
            <a:r>
              <a:rPr lang="en-US" altLang="zh-CN" sz="1800"/>
              <a:t> “</a:t>
            </a:r>
            <a:r>
              <a:rPr lang="zh-CN" altLang="en-US" sz="1800"/>
              <a:t>图像</a:t>
            </a:r>
            <a:r>
              <a:rPr lang="en-US" altLang="zh-CN" sz="1800"/>
              <a:t> + </a:t>
            </a:r>
            <a:r>
              <a:rPr lang="zh-CN" altLang="en-US" sz="1800"/>
              <a:t>时序</a:t>
            </a:r>
            <a:r>
              <a:rPr lang="en-US" altLang="zh-CN" sz="1800"/>
              <a:t> + </a:t>
            </a:r>
            <a:r>
              <a:rPr lang="zh-CN" altLang="en-US" sz="1800"/>
              <a:t>点云</a:t>
            </a:r>
            <a:r>
              <a:rPr lang="en-US" altLang="zh-CN" sz="1800"/>
              <a:t>” </a:t>
            </a:r>
            <a:r>
              <a:rPr lang="zh-CN" altLang="en-US" sz="1800"/>
              <a:t>多模态输入预测去噪信息。</a:t>
            </a:r>
            <a:r>
              <a:rPr lang="en-US" altLang="zh-CN" sz="1800">
                <a:sym typeface="+mn-ea"/>
              </a:rPr>
              <a:t>Po</a:t>
            </a:r>
            <a:r>
              <a:rPr lang="en-US" altLang="zh-CN" sz="1800"/>
              <a:t>int</a:t>
            </a:r>
            <a:r>
              <a:rPr lang="ja-JP" altLang="en-US" sz="1800"/>
              <a:t>・</a:t>
            </a:r>
            <a:r>
              <a:rPr lang="en-US" altLang="zh-CN" sz="1800"/>
              <a:t>E </a:t>
            </a:r>
            <a:r>
              <a:rPr lang="zh-CN" altLang="en-US" sz="1800"/>
              <a:t>的</a:t>
            </a:r>
            <a:r>
              <a:rPr lang="en-US" altLang="zh-CN" sz="1800"/>
              <a:t> Transformer </a:t>
            </a:r>
            <a:r>
              <a:rPr lang="zh-CN" altLang="en-US" sz="1800"/>
              <a:t>采用</a:t>
            </a:r>
            <a:r>
              <a:rPr lang="zh-CN" altLang="en-US" sz="1800"/>
              <a:t>多头自注意力机制，</a:t>
            </a:r>
            <a:r>
              <a:rPr lang="en-US" altLang="zh-CN" sz="1800"/>
              <a:t>K</a:t>
            </a:r>
            <a:r>
              <a:rPr lang="zh-CN" altLang="en-US" sz="1800"/>
              <a:t>、</a:t>
            </a:r>
            <a:r>
              <a:rPr lang="en-US" altLang="zh-CN" sz="1800"/>
              <a:t>Q</a:t>
            </a:r>
            <a:r>
              <a:rPr lang="zh-CN" altLang="en-US" sz="1800"/>
              <a:t>、</a:t>
            </a:r>
            <a:r>
              <a:rPr lang="en-US" altLang="zh-CN" sz="1800"/>
              <a:t>V </a:t>
            </a:r>
            <a:r>
              <a:rPr lang="zh-CN" altLang="en-US" sz="1800"/>
              <a:t>均由输入上下文向量通过不同线性投影得到</a:t>
            </a:r>
            <a:endParaRPr lang="zh-C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2800"/>
              <a:t>数据集</a:t>
            </a:r>
            <a:endParaRPr lang="zh-CN" altLang="en-US" sz="2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435" y="1541780"/>
            <a:ext cx="10215880" cy="1659255"/>
          </a:xfrm>
        </p:spPr>
        <p:txBody>
          <a:bodyPr>
            <a:normAutofit/>
          </a:bodyPr>
          <a:p>
            <a:r>
              <a:rPr lang="zh-CN" altLang="en-US" sz="1800"/>
              <a:t>使用</a:t>
            </a:r>
            <a:r>
              <a:rPr lang="en-US" altLang="zh-CN" sz="1800"/>
              <a:t>Blender</a:t>
            </a:r>
            <a:r>
              <a:rPr lang="zh-CN" altLang="en-US" sz="1800"/>
              <a:t>从</a:t>
            </a:r>
            <a:r>
              <a:rPr lang="en-US" altLang="zh-CN" sz="1800"/>
              <a:t>20</a:t>
            </a:r>
            <a:r>
              <a:rPr lang="zh-CN" altLang="en-US" sz="1800"/>
              <a:t>个随机摄像机角度将每个</a:t>
            </a:r>
            <a:r>
              <a:rPr lang="en-US" altLang="zh-CN" sz="1800"/>
              <a:t>3D</a:t>
            </a:r>
            <a:r>
              <a:rPr lang="zh-CN" altLang="en-US" sz="1800"/>
              <a:t>模型渲染为</a:t>
            </a:r>
            <a:r>
              <a:rPr lang="en-US" altLang="zh-CN" sz="1800"/>
              <a:t> RGBAD </a:t>
            </a:r>
            <a:r>
              <a:rPr lang="zh-CN" altLang="en-US" sz="1800"/>
              <a:t>图像。首先通过计算每个</a:t>
            </a:r>
            <a:r>
              <a:rPr lang="en-US" altLang="zh-CN" sz="1800"/>
              <a:t> RGBAD </a:t>
            </a:r>
            <a:r>
              <a:rPr lang="zh-CN" altLang="en-US" sz="1800"/>
              <a:t>图像中每个像素的点来构建每个物体的密集点云。使用了最远点采样法来创建</a:t>
            </a:r>
            <a:r>
              <a:rPr lang="en-US" altLang="zh-CN" sz="1800"/>
              <a:t>4K</a:t>
            </a:r>
            <a:r>
              <a:rPr lang="zh-CN" altLang="en-US" sz="1800"/>
              <a:t>点的均匀云。接着，我们根据</a:t>
            </a:r>
            <a:r>
              <a:rPr lang="en-US" altLang="zh-CN" sz="1800"/>
              <a:t>CLIP</a:t>
            </a:r>
            <a:r>
              <a:rPr lang="zh-CN" altLang="en-US" sz="1800"/>
              <a:t>特征对数据集进行聚类（每个物体的特征取所有渲染结果的平均值）。发现部分聚类包含大量低质量模型类别，而其他聚类则呈现更高多样性或可解释性。我们将这些聚类划分为多个质量等级的桶，并采用加权混合策略将不同等级的桶合并，最终形成数据集</a:t>
            </a:r>
            <a:endParaRPr lang="zh-CN" altLang="en-US" sz="1800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652145" y="32010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/>
              <a:t>评估</a:t>
            </a:r>
            <a:endParaRPr lang="zh-CN" altLang="en-US" sz="2800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246380" y="4377690"/>
            <a:ext cx="10232390" cy="10452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/>
              <a:t>在基于渲染的评估中，并未直接渲染生成的点云数据。而是将点云转换为带纹理的网格模型，再通过</a:t>
            </a:r>
            <a:r>
              <a:rPr lang="en-US" altLang="zh-CN" sz="1800"/>
              <a:t>Blender</a:t>
            </a:r>
            <a:r>
              <a:rPr lang="zh-CN" altLang="en-US" sz="1800"/>
              <a:t>进行渲染处理。采用基于回归的模型，根据给定的点云预测物体的带符号距离场，随后运用行进立方体算法对生成的</a:t>
            </a:r>
            <a:r>
              <a:rPr lang="en-US" altLang="zh-CN" sz="1800"/>
              <a:t>SDF</a:t>
            </a:r>
            <a:r>
              <a:rPr lang="zh-CN" altLang="en-US" sz="1800"/>
              <a:t>进行处理以提取网格。接着，我们通过采用原始点云中最邻近点的颜色，为网格的每个顶点着色。</a:t>
            </a:r>
            <a:endParaRPr lang="zh-C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1079</Words>
  <Application>WPS 演示</Application>
  <PresentationFormat>宽屏</PresentationFormat>
  <Paragraphs>38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宋体</vt:lpstr>
      <vt:lpstr>Wingdings</vt:lpstr>
      <vt:lpstr>CustomTranslateFont</vt:lpstr>
      <vt:lpstr>Segoe Print</vt:lpstr>
      <vt:lpstr>Inter</vt:lpstr>
      <vt:lpstr>Calibri</vt:lpstr>
      <vt:lpstr>微软雅黑</vt:lpstr>
      <vt:lpstr>Arial Unicode MS</vt:lpstr>
      <vt:lpstr>MS PGothic</vt:lpstr>
      <vt:lpstr>WPS</vt:lpstr>
      <vt:lpstr>12.9</vt:lpstr>
      <vt:lpstr>点云扩散模型架构</vt:lpstr>
      <vt:lpstr>点云扩散模型架构</vt:lpstr>
      <vt:lpstr>PowerPoint 演示文稿</vt:lpstr>
      <vt:lpstr>点云上采样器</vt:lpstr>
      <vt:lpstr>数据集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老水</cp:lastModifiedBy>
  <cp:revision>8</cp:revision>
  <dcterms:created xsi:type="dcterms:W3CDTF">2023-08-09T12:44:00Z</dcterms:created>
  <dcterms:modified xsi:type="dcterms:W3CDTF">2025-12-11T12:55:13Z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C6B169F03330424FB7CADED15DB6E4CD_12</vt:lpwstr>
  </property>
</Properties>
</file>