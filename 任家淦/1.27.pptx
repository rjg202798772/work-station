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1.27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结构化潜在表示</a:t>
            </a:r>
            <a:r>
              <a:rPr lang="en-US" altLang="zh-CN"/>
              <a:t>SLAT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 sz="2800"/>
              <a:t>SLAT = </a:t>
            </a:r>
            <a:r>
              <a:rPr lang="zh-CN" altLang="en-US" sz="2800"/>
              <a:t>稀疏</a:t>
            </a:r>
            <a:r>
              <a:rPr lang="en-US" altLang="zh-CN" sz="2800"/>
              <a:t> 3D </a:t>
            </a:r>
            <a:r>
              <a:rPr lang="zh-CN" altLang="en-US" sz="2800"/>
              <a:t>网格</a:t>
            </a:r>
            <a:r>
              <a:rPr lang="en-US" altLang="zh-CN" sz="2800"/>
              <a:t> + </a:t>
            </a:r>
            <a:r>
              <a:rPr lang="zh-CN" altLang="en-US" sz="2800"/>
              <a:t>局部潜变量</a:t>
            </a:r>
            <a:endParaRPr lang="zh-CN" altLang="en-US" sz="2800"/>
          </a:p>
          <a:p>
            <a:pPr marL="0" indent="0">
              <a:buNone/>
            </a:pPr>
            <a:endParaRPr lang="en-US" altLang="zh-CN" sz="2800"/>
          </a:p>
          <a:p>
            <a:pPr marL="0" indent="0">
              <a:buNone/>
            </a:pPr>
            <a:r>
              <a:rPr lang="zh-CN" altLang="en-US" sz="2800"/>
              <a:t>稀疏</a:t>
            </a:r>
            <a:r>
              <a:rPr lang="en-US" altLang="zh-CN" sz="2800"/>
              <a:t> 3D </a:t>
            </a:r>
            <a:r>
              <a:rPr lang="zh-CN" altLang="en-US" sz="2800"/>
              <a:t>网格：</a:t>
            </a:r>
            <a:endParaRPr lang="zh-CN" altLang="en-US" sz="2800"/>
          </a:p>
          <a:p>
            <a:pPr marL="457200" lvl="1" indent="0">
              <a:buNone/>
            </a:pPr>
            <a:r>
              <a:rPr lang="zh-CN" altLang="en-US" sz="2800"/>
              <a:t>定义物体粗轮廓，仅保留与物体表面相交的</a:t>
            </a:r>
            <a:r>
              <a:rPr lang="en-US" altLang="zh-CN" sz="2800"/>
              <a:t> “</a:t>
            </a:r>
            <a:r>
              <a:rPr lang="zh-CN" altLang="en-US" sz="2800"/>
              <a:t>活跃体素</a:t>
            </a:r>
            <a:r>
              <a:rPr lang="en-US" altLang="zh-CN" sz="2800"/>
              <a:t>”</a:t>
            </a:r>
            <a:r>
              <a:rPr lang="zh-CN" altLang="en-US" sz="2800"/>
              <a:t>（默认网格分辨率</a:t>
            </a:r>
            <a:r>
              <a:rPr lang="en-US" altLang="zh-CN" sz="2800"/>
              <a:t>64^3</a:t>
            </a:r>
            <a:r>
              <a:rPr lang="zh-CN" altLang="en-US" sz="2800"/>
              <a:t>，平均活跃体素数</a:t>
            </a:r>
            <a:r>
              <a:rPr lang="en-US" altLang="zh-CN" sz="2800"/>
              <a:t> 20K</a:t>
            </a:r>
            <a:r>
              <a:rPr lang="zh-CN" altLang="en-US" sz="2800"/>
              <a:t>）</a:t>
            </a:r>
            <a:endParaRPr lang="en-US" altLang="zh-CN" sz="2800"/>
          </a:p>
          <a:p>
            <a:pPr marL="0" indent="0">
              <a:buNone/>
            </a:pPr>
            <a:endParaRPr lang="en-US" altLang="zh-CN" sz="2800"/>
          </a:p>
          <a:p>
            <a:pPr marL="0" indent="0">
              <a:buNone/>
            </a:pPr>
            <a:r>
              <a:rPr lang="zh-CN" altLang="en-US" sz="2800"/>
              <a:t>局部潜变量：</a:t>
            </a:r>
            <a:endParaRPr lang="zh-CN" altLang="en-US" sz="2800"/>
          </a:p>
          <a:p>
            <a:pPr marL="0" indent="457200">
              <a:buNone/>
            </a:pPr>
            <a:r>
              <a:rPr lang="zh-CN" altLang="en-US" sz="2800"/>
              <a:t>附着于活跃体素的特征向量，捕获物体细粒度的几何细节与外观纹理，由多视图图像特征融合编码得到</a:t>
            </a:r>
            <a:endParaRPr lang="zh-CN" altLang="en-US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Trellis3d</a:t>
            </a:r>
            <a:r>
              <a:rPr lang="zh-CN" altLang="en-US"/>
              <a:t>总体架构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26795" y="1691005"/>
            <a:ext cx="9792335" cy="41490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919470" y="1390650"/>
            <a:ext cx="5080000" cy="635000"/>
          </a:xfrm>
          <a:prstGeom prst="rect">
            <a:avLst/>
          </a:prstGeom>
        </p:spPr>
        <p:txBody>
          <a:bodyPr/>
          <a:p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230" y="0"/>
            <a:ext cx="10515600" cy="1325563"/>
          </a:xfrm>
        </p:spPr>
        <p:txBody>
          <a:bodyPr/>
          <a:p>
            <a:r>
              <a:rPr lang="en-US" altLang="zh-CN" sz="3600"/>
              <a:t>Trellis3d</a:t>
            </a:r>
            <a:r>
              <a:rPr lang="zh-CN" altLang="en-US" sz="3600"/>
              <a:t>总体架构</a:t>
            </a:r>
            <a:endParaRPr lang="zh-CN" altLang="en-US" sz="36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5300" y="950595"/>
            <a:ext cx="9436100" cy="39979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33805" y="5189855"/>
            <a:ext cx="8568055" cy="1243965"/>
          </a:xfrm>
          <a:prstGeom prst="rect">
            <a:avLst/>
          </a:prstGeom>
        </p:spPr>
        <p:txBody>
          <a:bodyPr>
            <a:noAutofit/>
          </a:bodyPr>
          <a:p>
            <a:pPr indent="121285" algn="l" fontAlgn="auto">
              <a:lnSpc>
                <a:spcPct val="100000"/>
              </a:lnSpc>
            </a:pPr>
            <a:r>
              <a:rPr lang="zh-CN" altLang="en-US" b="0" i="0">
                <a:solidFill>
                  <a:srgbClr val="000000"/>
                </a:solidFill>
                <a:latin typeface="微软正黑体"/>
                <a:ea typeface="微软正黑体"/>
              </a:rPr>
              <a:t>在球面上渲染随机采样相机视角的图像，并使用预训练的</a:t>
            </a:r>
            <a:r>
              <a:rPr lang="en-US" altLang="zh-CN" b="0" i="0">
                <a:solidFill>
                  <a:srgbClr val="000000"/>
                </a:solidFill>
                <a:latin typeface="微软正黑体"/>
                <a:ea typeface="微软正黑体"/>
              </a:rPr>
              <a:t>DINOv2</a:t>
            </a:r>
            <a:r>
              <a:rPr lang="zh-CN" altLang="en-US" b="0" i="0">
                <a:solidFill>
                  <a:srgbClr val="000000"/>
                </a:solidFill>
                <a:latin typeface="微软正黑体"/>
                <a:ea typeface="微软正黑体"/>
              </a:rPr>
              <a:t>提取特征图，每个体素被投影到多视角特征图上以获取对应位置的特征，并取其平均值作为</a:t>
            </a:r>
            <a:r>
              <a:rPr lang="en-US" altLang="zh-CN" b="1" i="1">
                <a:solidFill>
                  <a:srgbClr val="000000"/>
                </a:solidFill>
                <a:latin typeface="微软正黑体"/>
                <a:ea typeface="微软正黑体"/>
              </a:rPr>
              <a:t>f</a:t>
            </a:r>
            <a:r>
              <a:rPr lang="en-US" altLang="zh-CN" b="0" i="1">
                <a:solidFill>
                  <a:srgbClr val="000000"/>
                </a:solidFill>
                <a:latin typeface="微软正黑体"/>
                <a:ea typeface="微软正黑体"/>
              </a:rPr>
              <a:t>i</a:t>
            </a:r>
            <a:endParaRPr lang="en-US" altLang="zh-CN" b="0" i="1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21285" algn="l" fontAlgn="auto">
              <a:lnSpc>
                <a:spcPct val="100000"/>
              </a:lnSpc>
            </a:pPr>
            <a:r>
              <a:rPr lang="zh-CN" altLang="en-US" b="0">
                <a:solidFill>
                  <a:srgbClr val="000000"/>
                </a:solidFill>
                <a:latin typeface="微软正黑体"/>
                <a:ea typeface="微软正黑体"/>
              </a:rPr>
              <a:t>编码器</a:t>
            </a:r>
            <a:r>
              <a:rPr lang="en-US" altLang="zh-CN" b="0">
                <a:solidFill>
                  <a:srgbClr val="000000"/>
                </a:solidFill>
                <a:latin typeface="微软正黑体"/>
                <a:ea typeface="微软正黑体"/>
              </a:rPr>
              <a:t>ε</a:t>
            </a:r>
            <a:r>
              <a:rPr lang="zh-CN" altLang="en-US" b="0">
                <a:solidFill>
                  <a:srgbClr val="000000"/>
                </a:solidFill>
                <a:latin typeface="微软正黑体"/>
                <a:ea typeface="微软正黑体"/>
              </a:rPr>
              <a:t>首先将</a:t>
            </a:r>
            <a:r>
              <a:rPr lang="en-US" altLang="zh-CN" b="0">
                <a:solidFill>
                  <a:srgbClr val="000000"/>
                </a:solidFill>
                <a:latin typeface="微软正黑体"/>
                <a:ea typeface="微软正黑体"/>
              </a:rPr>
              <a:t>f</a:t>
            </a:r>
            <a:r>
              <a:rPr lang="zh-CN" altLang="en-US" b="0">
                <a:solidFill>
                  <a:srgbClr val="000000"/>
                </a:solidFill>
                <a:latin typeface="微软正黑体"/>
                <a:ea typeface="微软正黑体"/>
              </a:rPr>
              <a:t>编码为结构化潜在变量</a:t>
            </a:r>
            <a:r>
              <a:rPr lang="en-US" altLang="zh-CN" b="0">
                <a:solidFill>
                  <a:srgbClr val="000000"/>
                </a:solidFill>
                <a:latin typeface="微软正黑体"/>
                <a:ea typeface="微软正黑体"/>
              </a:rPr>
              <a:t>z</a:t>
            </a:r>
            <a:r>
              <a:rPr lang="zh-CN" altLang="en-US" b="0">
                <a:solidFill>
                  <a:srgbClr val="000000"/>
                </a:solidFill>
                <a:latin typeface="微软正黑体"/>
                <a:ea typeface="微软正黑体"/>
              </a:rPr>
              <a:t>，随后解码器</a:t>
            </a:r>
            <a:r>
              <a:rPr lang="en-US" altLang="zh-CN" b="0">
                <a:solidFill>
                  <a:srgbClr val="000000"/>
                </a:solidFill>
                <a:latin typeface="微软正黑体"/>
                <a:ea typeface="微软正黑体"/>
              </a:rPr>
              <a:t>D</a:t>
            </a:r>
            <a:r>
              <a:rPr lang="zh-CN" altLang="en-US" b="0">
                <a:solidFill>
                  <a:srgbClr val="000000"/>
                </a:solidFill>
                <a:latin typeface="微软正黑体"/>
                <a:ea typeface="微软正黑体"/>
              </a:rPr>
              <a:t>将</a:t>
            </a:r>
            <a:r>
              <a:rPr lang="en-US" altLang="zh-CN" b="0">
                <a:solidFill>
                  <a:srgbClr val="000000"/>
                </a:solidFill>
                <a:latin typeface="微软正黑体"/>
                <a:ea typeface="微软正黑体"/>
              </a:rPr>
              <a:t>z</a:t>
            </a:r>
            <a:r>
              <a:rPr lang="zh-CN" altLang="en-US" b="0">
                <a:solidFill>
                  <a:srgbClr val="000000"/>
                </a:solidFill>
                <a:latin typeface="微软正黑体"/>
                <a:ea typeface="微软正黑体"/>
              </a:rPr>
              <a:t>转换为由特定</a:t>
            </a:r>
            <a:r>
              <a:rPr lang="en-US" altLang="zh-CN" b="0">
                <a:solidFill>
                  <a:srgbClr val="000000"/>
                </a:solidFill>
                <a:latin typeface="微软正黑体"/>
                <a:ea typeface="微软正黑体"/>
              </a:rPr>
              <a:t>3D</a:t>
            </a:r>
            <a:r>
              <a:rPr lang="zh-CN" altLang="en-US" b="0">
                <a:solidFill>
                  <a:srgbClr val="000000"/>
                </a:solidFill>
                <a:latin typeface="微软正黑体"/>
                <a:ea typeface="微软正黑体"/>
              </a:rPr>
              <a:t>表示法呈现的</a:t>
            </a:r>
            <a:r>
              <a:rPr lang="en-US" altLang="zh-CN" b="0">
                <a:solidFill>
                  <a:srgbClr val="000000"/>
                </a:solidFill>
                <a:latin typeface="微软正黑体"/>
                <a:ea typeface="微软正黑体"/>
              </a:rPr>
              <a:t>3D</a:t>
            </a:r>
            <a:r>
              <a:rPr lang="zh-CN" altLang="en-US" b="0">
                <a:solidFill>
                  <a:srgbClr val="000000"/>
                </a:solidFill>
                <a:latin typeface="微软正黑体"/>
                <a:ea typeface="微软正黑体"/>
              </a:rPr>
              <a:t>资产</a:t>
            </a:r>
            <a:endParaRPr lang="zh-CN" altLang="en-US" b="0">
              <a:solidFill>
                <a:srgbClr val="000000"/>
              </a:solidFill>
              <a:latin typeface="微软正黑体"/>
              <a:ea typeface="微软正黑体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56150" y="15062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solidFill>
                  <a:srgbClr val="000000"/>
                </a:solidFill>
                <a:latin typeface="微软正黑体"/>
                <a:ea typeface="微软正黑体"/>
                <a:sym typeface="+mn-ea"/>
              </a:rPr>
              <a:t>f</a:t>
            </a:r>
            <a:r>
              <a:rPr lang="en-US" altLang="zh-CN" i="1">
                <a:solidFill>
                  <a:srgbClr val="000000"/>
                </a:solidFill>
                <a:latin typeface="微软正黑体"/>
                <a:ea typeface="微软正黑体"/>
                <a:sym typeface="+mn-ea"/>
              </a:rPr>
              <a:t>i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8721090" y="697865"/>
            <a:ext cx="5080000" cy="252730"/>
          </a:xfrm>
          <a:prstGeom prst="rect">
            <a:avLst/>
          </a:prstGeom>
        </p:spPr>
        <p:txBody>
          <a:bodyPr>
            <a:spAutoFit/>
          </a:bodyPr>
          <a:p>
            <a:pPr marL="3810" indent="-3810" algn="l">
              <a:lnSpc>
                <a:spcPts val="1260"/>
              </a:lnSpc>
            </a:pPr>
            <a:r>
              <a:rPr lang="en-US" altLang="zh-CN" sz="1600" b="1" i="1">
                <a:solidFill>
                  <a:srgbClr val="000000"/>
                </a:solidFill>
                <a:latin typeface="微软正黑体"/>
                <a:ea typeface="微软正黑体"/>
              </a:rPr>
              <a:t>f</a:t>
            </a:r>
            <a:r>
              <a:rPr lang="en-US" altLang="zh-CN" sz="1600" b="0" i="0">
                <a:solidFill>
                  <a:srgbClr val="000000"/>
                </a:solidFill>
                <a:latin typeface="微软正黑体"/>
                <a:ea typeface="微软正黑体"/>
              </a:rPr>
              <a:t>=</a:t>
            </a:r>
            <a:r>
              <a:rPr lang="en-US" altLang="zh-CN" sz="1600" b="0" i="1">
                <a:solidFill>
                  <a:srgbClr val="000000"/>
                </a:solidFill>
                <a:latin typeface="微软正黑体"/>
                <a:ea typeface="微软正黑体"/>
              </a:rPr>
              <a:t>{</a:t>
            </a:r>
            <a:r>
              <a:rPr lang="en-US" altLang="zh-CN" sz="1600" b="0" i="0">
                <a:solidFill>
                  <a:srgbClr val="000000"/>
                </a:solidFill>
                <a:latin typeface="微软正黑体"/>
                <a:ea typeface="微软正黑体"/>
              </a:rPr>
              <a:t>(</a:t>
            </a:r>
            <a:r>
              <a:rPr lang="en-US" altLang="zh-CN" sz="1600" b="1" i="1">
                <a:solidFill>
                  <a:srgbClr val="000000"/>
                </a:solidFill>
                <a:latin typeface="微软正黑体"/>
                <a:ea typeface="微软正黑体"/>
              </a:rPr>
              <a:t>f</a:t>
            </a:r>
            <a:r>
              <a:rPr lang="en-US" altLang="zh-CN" sz="1600" b="0" i="1">
                <a:solidFill>
                  <a:srgbClr val="000000"/>
                </a:solidFill>
                <a:latin typeface="微软正黑体"/>
                <a:ea typeface="微软正黑体"/>
              </a:rPr>
              <a:t>i</a:t>
            </a:r>
            <a:r>
              <a:rPr lang="zh-CN" altLang="en-US" sz="1600" b="0" i="0">
                <a:solidFill>
                  <a:srgbClr val="000000"/>
                </a:solidFill>
                <a:latin typeface="微软正黑体"/>
                <a:ea typeface="微软正黑体"/>
              </a:rPr>
              <a:t>，</a:t>
            </a:r>
            <a:endParaRPr lang="zh-CN" altLang="en-US" sz="1600" b="0" i="0">
              <a:solidFill>
                <a:srgbClr val="000000"/>
              </a:solidFill>
              <a:latin typeface="微软正黑体"/>
              <a:ea typeface="微软正黑体"/>
            </a:endParaRP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9552940" y="697865"/>
            <a:ext cx="556260" cy="2362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361305" y="697865"/>
            <a:ext cx="5080000" cy="252730"/>
          </a:xfrm>
          <a:prstGeom prst="rect">
            <a:avLst/>
          </a:prstGeom>
        </p:spPr>
        <p:txBody>
          <a:bodyPr>
            <a:spAutoFit/>
          </a:bodyPr>
          <a:p>
            <a:pPr marL="3810" indent="-3810" algn="l">
              <a:lnSpc>
                <a:spcPts val="126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微软正黑体"/>
                <a:ea typeface="微软正黑体"/>
              </a:rPr>
              <a:t>首先将每个</a:t>
            </a:r>
            <a:r>
              <a:rPr lang="en-US" altLang="zh-CN" sz="1600" b="0" i="0">
                <a:solidFill>
                  <a:srgbClr val="000000"/>
                </a:solidFill>
                <a:latin typeface="微软正黑体"/>
                <a:ea typeface="微软正黑体"/>
              </a:rPr>
              <a:t>3D</a:t>
            </a:r>
            <a:r>
              <a:rPr lang="zh-CN" altLang="en-US" sz="1600" b="0" i="0">
                <a:solidFill>
                  <a:srgbClr val="000000"/>
                </a:solidFill>
                <a:latin typeface="微软正黑体"/>
                <a:ea typeface="微软正黑体"/>
              </a:rPr>
              <a:t>资产</a:t>
            </a:r>
            <a:r>
              <a:rPr lang="en-US" altLang="zh-CN" sz="1600" b="0" i="1">
                <a:solidFill>
                  <a:srgbClr val="000000"/>
                </a:solidFill>
                <a:latin typeface="微软正黑体"/>
                <a:ea typeface="微软正黑体"/>
              </a:rPr>
              <a:t>O</a:t>
            </a:r>
            <a:r>
              <a:rPr lang="zh-CN" altLang="en-US" sz="1600" b="0" i="0">
                <a:solidFill>
                  <a:srgbClr val="000000"/>
                </a:solidFill>
                <a:latin typeface="微软正黑体"/>
                <a:ea typeface="微软正黑体"/>
              </a:rPr>
              <a:t>转换为体素化特征</a:t>
            </a:r>
            <a:endParaRPr lang="zh-CN" altLang="en-US" sz="1600" b="0" i="0">
              <a:solidFill>
                <a:srgbClr val="000000"/>
              </a:solidFill>
              <a:latin typeface="微软正黑体"/>
              <a:ea typeface="微软正黑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710" y="131445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Trellis3d</a:t>
            </a:r>
            <a:r>
              <a:rPr lang="zh-CN" altLang="en-US">
                <a:sym typeface="+mn-ea"/>
              </a:rPr>
              <a:t>总体架构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46825" y="1061085"/>
            <a:ext cx="5418455" cy="44678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3720" y="1527810"/>
            <a:ext cx="5793105" cy="1268730"/>
          </a:xfrm>
          <a:prstGeom prst="rect">
            <a:avLst/>
          </a:prstGeom>
        </p:spPr>
        <p:txBody>
          <a:bodyPr>
            <a:noAutofit/>
          </a:bodyPr>
          <a:p>
            <a:pPr indent="118110" algn="l" fontAlgn="auto">
              <a:lnSpc>
                <a:spcPct val="100000"/>
              </a:lnSpc>
            </a:pP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对活跃体素的输入特征进行序列化处理，并基于体素位置添加正弦位置编码，生成上下文长度可变</a:t>
            </a:r>
            <a:r>
              <a:rPr lang="en-US" altLang="zh-CN" sz="2000" b="0" i="1">
                <a:solidFill>
                  <a:srgbClr val="000000"/>
                </a:solidFill>
                <a:latin typeface="微软正黑体"/>
                <a:ea typeface="微软正黑体"/>
              </a:rPr>
              <a:t>L</a:t>
            </a: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的标记</a:t>
            </a:r>
            <a:endParaRPr lang="zh-CN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endParaRPr lang="en-US" altLang="zh-CN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r>
              <a:rPr lang="en-US" alt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Transfomer:</a:t>
            </a:r>
            <a:endParaRPr lang="en-US" altLang="zh-CN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引入移位窗口注意力机制以增强局部信息交互</a:t>
            </a:r>
            <a:r>
              <a:rPr lang="en-US" alt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(</a:t>
            </a: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提升处理效率</a:t>
            </a:r>
            <a:r>
              <a:rPr lang="en-US" alt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)</a:t>
            </a:r>
            <a:endParaRPr lang="zh-CN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endParaRPr lang="zh-CN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r>
              <a:rPr lang="en-US" altLang="zh-CN" sz="2000" b="0" i="0"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微软正黑体"/>
                <a:ea typeface="微软正黑体"/>
              </a:rPr>
              <a:t>3D</a:t>
            </a:r>
            <a:r>
              <a:rPr lang="zh-CN" altLang="en-US" sz="2000" b="0" i="0"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微软正黑体"/>
                <a:ea typeface="微软正黑体"/>
              </a:rPr>
              <a:t>移位窗口注意力</a:t>
            </a:r>
            <a:r>
              <a:rPr lang="en-US" altLang="zh-CN" sz="2000" b="0" i="0">
                <a:solidFill>
                  <a:srgbClr val="FF0000"/>
                </a:solidFill>
                <a:latin typeface="微软正黑体"/>
                <a:ea typeface="微软正黑体"/>
              </a:rPr>
              <a:t>3D-SW-MHA</a:t>
            </a: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：将</a:t>
            </a:r>
            <a:r>
              <a:rPr lang="en-US" alt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64^3</a:t>
            </a: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网格划分为</a:t>
            </a:r>
            <a:r>
              <a:rPr lang="en-US" alt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8^3</a:t>
            </a: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窗口，仅窗口内计算注意力，平衡局部交互与效率</a:t>
            </a:r>
            <a:endParaRPr lang="zh-CN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710" y="131445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Trellis3d</a:t>
            </a:r>
            <a:r>
              <a:rPr lang="zh-CN" altLang="en-US">
                <a:sym typeface="+mn-ea"/>
              </a:rPr>
              <a:t>总体架构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10895" y="1661795"/>
            <a:ext cx="10020300" cy="3973830"/>
          </a:xfrm>
          <a:prstGeom prst="rect">
            <a:avLst/>
          </a:prstGeom>
        </p:spPr>
        <p:txBody>
          <a:bodyPr>
            <a:noAutofit/>
          </a:bodyPr>
          <a:p>
            <a:pPr indent="118110" algn="l" fontAlgn="auto">
              <a:lnSpc>
                <a:spcPct val="100000"/>
              </a:lnSpc>
            </a:pPr>
            <a:r>
              <a:rPr lang="zh-CN" altLang="en-US" sz="2400" b="0" i="0">
                <a:solidFill>
                  <a:srgbClr val="000000"/>
                </a:solidFill>
                <a:latin typeface="微软正黑体"/>
                <a:ea typeface="微软正黑体"/>
              </a:rPr>
              <a:t>修正流模型</a:t>
            </a:r>
            <a:endParaRPr lang="zh-CN" altLang="en-US" sz="24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endParaRPr lang="zh-CN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流修正模型的本质是学习一个时间依赖的向量场（</a:t>
            </a:r>
            <a:r>
              <a:rPr lang="en-US" alt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v(x,t)</a:t>
            </a: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），引导数据从随机噪声分布</a:t>
            </a:r>
            <a:r>
              <a:rPr lang="en-US" alt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π1​</a:t>
            </a: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沿规整化的路径演化到目标数据分布</a:t>
            </a:r>
            <a:r>
              <a:rPr lang="en-US" alt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π0​</a:t>
            </a:r>
            <a:endParaRPr lang="zh-CN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endParaRPr lang="zh-CN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采用线性插值前向过程</a:t>
            </a:r>
            <a:r>
              <a:rPr lang="en-US" alt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 x(t) = (1 − t)x0 + t</a:t>
            </a:r>
            <a:r>
              <a:rPr lang="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ϵ</a:t>
            </a:r>
            <a:r>
              <a:rPr 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，以时间步长</a:t>
            </a:r>
            <a:r>
              <a:rPr lang="en-US" alt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t</a:t>
            </a: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在样本</a:t>
            </a:r>
            <a:r>
              <a:rPr lang="en-US" altLang="zh-CN" sz="2000">
                <a:solidFill>
                  <a:srgbClr val="000000"/>
                </a:solidFill>
                <a:latin typeface="微软正黑体"/>
                <a:ea typeface="微软正黑体"/>
                <a:sym typeface="+mn-ea"/>
              </a:rPr>
              <a:t>x0</a:t>
            </a: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和噪声</a:t>
            </a:r>
            <a:r>
              <a:rPr lang="en-US" altLang="zh-CN" sz="2000">
                <a:solidFill>
                  <a:srgbClr val="000000"/>
                </a:solidFill>
                <a:latin typeface="微软正黑体"/>
                <a:ea typeface="微软正黑体"/>
                <a:sym typeface="+mn-ea"/>
              </a:rPr>
              <a:t>t</a:t>
            </a:r>
            <a:r>
              <a:rPr lang="en-US" altLang="en-US" sz="2000">
                <a:solidFill>
                  <a:srgbClr val="000000"/>
                </a:solidFill>
                <a:latin typeface="微软正黑体"/>
                <a:ea typeface="微软正黑体"/>
                <a:sym typeface="+mn-ea"/>
              </a:rPr>
              <a:t>ϵ</a:t>
            </a: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之间进行插值，后向过程表示为时变向量场，</a:t>
            </a:r>
            <a:r>
              <a:rPr lang="en-US" alt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v</a:t>
            </a: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（</a:t>
            </a:r>
            <a:r>
              <a:rPr lang="en-US" alt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x</a:t>
            </a: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，</a:t>
            </a:r>
            <a:r>
              <a:rPr lang="en-US" alt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t</a:t>
            </a: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）</a:t>
            </a:r>
            <a:r>
              <a:rPr lang="en-US" altLang="zh-CN" sz="2000" b="0" i="0">
                <a:solidFill>
                  <a:srgbClr val="000000"/>
                </a:solidFill>
                <a:latin typeface="微软正黑体"/>
                <a:ea typeface="微软正黑体"/>
              </a:rPr>
              <a:t>=∇ t x</a:t>
            </a:r>
            <a:r>
              <a:rPr lang="zh-CN" altLang="en-US" sz="2000" b="0" i="0">
                <a:solidFill>
                  <a:srgbClr val="000000"/>
                </a:solidFill>
                <a:latin typeface="微软正黑体"/>
                <a:ea typeface="微软正黑体"/>
              </a:rPr>
              <a:t>，将噪声样本向数据分布方向移动</a:t>
            </a:r>
            <a:endParaRPr lang="zh-CN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endParaRPr lang="zh-CN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endParaRPr lang="zh-CN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endParaRPr lang="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endParaRPr lang="zh-CN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endParaRPr lang="zh-CN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endParaRPr lang="zh-CN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endParaRPr lang="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endParaRPr lang="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  <a:p>
            <a:pPr indent="118110" algn="l" fontAlgn="auto">
              <a:lnSpc>
                <a:spcPct val="100000"/>
              </a:lnSpc>
            </a:pPr>
            <a:endParaRPr lang="" altLang="en-US" sz="2000" b="0" i="0">
              <a:solidFill>
                <a:srgbClr val="000000"/>
              </a:solidFill>
              <a:latin typeface="微软正黑体"/>
              <a:ea typeface="微软正黑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</Words>
  <Application>WPS 演示</Application>
  <PresentationFormat>宽屏</PresentationFormat>
  <Paragraphs>51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Arial Unicode MS</vt:lpstr>
      <vt:lpstr>Calibri</vt:lpstr>
      <vt:lpstr>微软雅黑</vt:lpstr>
      <vt:lpstr>微软正黑体</vt:lpstr>
      <vt:lpstr>黑体</vt:lpstr>
      <vt:lpstr>WPS</vt:lpstr>
      <vt:lpstr>PowerPoint 演示文稿</vt:lpstr>
      <vt:lpstr>PowerPoint 演示文稿</vt:lpstr>
      <vt:lpstr>PowerPoint 演示文稿</vt:lpstr>
      <vt:lpstr>Trellis3d总体架构</vt:lpstr>
      <vt:lpstr>PowerPoint 演示文稿</vt:lpstr>
      <vt:lpstr>Trellis3d总体架构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老水</cp:lastModifiedBy>
  <cp:revision>5</cp:revision>
  <dcterms:created xsi:type="dcterms:W3CDTF">2023-08-09T12:44:00Z</dcterms:created>
  <dcterms:modified xsi:type="dcterms:W3CDTF">2026-01-27T10:17:38Z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100E15C2A7B4477D987BB0773C66F7F3_12</vt:lpwstr>
  </property>
</Properties>
</file>