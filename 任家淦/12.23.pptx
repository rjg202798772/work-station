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62" r:id="rId5"/>
    <p:sldId id="263" r:id="rId6"/>
    <p:sldId id="257" r:id="rId7"/>
    <p:sldId id="258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12.23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200"/>
              <a:t>Point-e</a:t>
            </a:r>
            <a:r>
              <a:rPr lang="zh-CN" altLang="en-US" sz="3200"/>
              <a:t>学习</a:t>
            </a:r>
            <a:r>
              <a:rPr lang="en-US" altLang="zh-CN" sz="3200"/>
              <a:t>-ga</a:t>
            </a:r>
            <a:r>
              <a:rPr lang="en-US" altLang="zh-CN" sz="3200"/>
              <a:t>ussion—diffusion</a:t>
            </a:r>
            <a:endParaRPr lang="en-US" altLang="zh-CN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sz="2000"/>
              <a:t>point-e</a:t>
            </a:r>
            <a:r>
              <a:rPr lang="zh-CN" altLang="en-US" sz="2000"/>
              <a:t>中扩散模型没有作过多修改，仅自定了一个</a:t>
            </a:r>
            <a:r>
              <a:rPr lang="zh-CN" altLang="en-US" sz="2000"/>
              <a:t>扩散过程：</a:t>
            </a:r>
            <a:br>
              <a:rPr lang="zh-CN" altLang="en-US" sz="2000"/>
            </a:b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逆向</a:t>
            </a:r>
            <a:r>
              <a:rPr lang="zh-CN" altLang="en-US" sz="2000"/>
              <a:t>去噪：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模型输出</a:t>
            </a:r>
            <a:endParaRPr lang="zh-CN" altLang="en-US" sz="2000"/>
          </a:p>
          <a:p>
            <a:pPr marL="0" indent="457200">
              <a:buNone/>
            </a:pPr>
            <a:r>
              <a:rPr lang="en-US" altLang="zh-CN" sz="2000"/>
              <a:t>epsilon</a:t>
            </a:r>
            <a:r>
              <a:rPr lang="zh-CN" altLang="en-US" sz="2000"/>
              <a:t>：预测加在</a:t>
            </a:r>
            <a:r>
              <a:rPr lang="en-US" altLang="zh-CN" sz="2000"/>
              <a:t> x0 </a:t>
            </a:r>
            <a:r>
              <a:rPr lang="zh-CN" altLang="en-US" sz="2000"/>
              <a:t>上的噪声（</a:t>
            </a:r>
            <a:r>
              <a:rPr lang="en-US" altLang="zh-CN" sz="2000"/>
              <a:t>DDPM</a:t>
            </a:r>
            <a:r>
              <a:rPr lang="zh-CN" altLang="en-US" sz="2000"/>
              <a:t>）</a:t>
            </a:r>
            <a:endParaRPr lang="zh-CN" altLang="en-US" sz="2000"/>
          </a:p>
          <a:p>
            <a:pPr marL="0" indent="457200">
              <a:buNone/>
            </a:pPr>
            <a:r>
              <a:rPr lang="en-US" altLang="zh-CN" sz="2000"/>
              <a:t>x_start</a:t>
            </a:r>
            <a:r>
              <a:rPr lang="zh-CN" altLang="en-US" sz="2000"/>
              <a:t>：直接预测干净样本</a:t>
            </a:r>
            <a:r>
              <a:rPr lang="en-US" altLang="zh-CN" sz="2000"/>
              <a:t> x0</a:t>
            </a:r>
            <a:endParaRPr lang="zh-CN" altLang="en-US" sz="2000"/>
          </a:p>
          <a:p>
            <a:pPr marL="0" indent="457200">
              <a:buNone/>
            </a:pPr>
            <a:r>
              <a:rPr lang="en-US" altLang="zh-CN" sz="2000"/>
              <a:t>x_prev</a:t>
            </a:r>
            <a:r>
              <a:rPr lang="zh-CN" altLang="en-US" sz="2000"/>
              <a:t>：直接预测</a:t>
            </a:r>
            <a:r>
              <a:rPr lang="en-US" altLang="zh-CN" sz="2000"/>
              <a:t> x_{t-1}</a:t>
            </a:r>
            <a:endParaRPr lang="zh-CN" altLang="en-US" sz="2000"/>
          </a:p>
          <a:p>
            <a:pPr marL="0" indent="0">
              <a:buNone/>
            </a:pPr>
            <a:endParaRPr lang="en-US" altLang="zh-CN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0225" y="1967230"/>
            <a:ext cx="3376930" cy="4959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200"/>
              <a:t>Point-e</a:t>
            </a:r>
            <a:r>
              <a:rPr lang="zh-CN" altLang="en-US" sz="3200"/>
              <a:t>代码学习</a:t>
            </a:r>
            <a:r>
              <a:rPr lang="en-US" altLang="zh-CN" sz="3200"/>
              <a:t>-K</a:t>
            </a:r>
            <a:r>
              <a:rPr lang="zh-CN" altLang="en-US" sz="3200"/>
              <a:t>采样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sz="2000"/>
              <a:t>x(σ)=x 0 +σ⋅</a:t>
            </a:r>
            <a:r>
              <a:rPr lang="" altLang="en-US" sz="2000"/>
              <a:t>ϵ</a:t>
            </a:r>
            <a:r>
              <a:rPr lang="en-US" sz="2000"/>
              <a:t>   </a:t>
            </a:r>
            <a:r>
              <a:rPr lang="zh-CN" sz="2000"/>
              <a:t>代替传统的</a:t>
            </a:r>
            <a:endParaRPr lang="zh-CN" sz="2000"/>
          </a:p>
          <a:p>
            <a:pPr marL="0" indent="0">
              <a:buNone/>
            </a:pPr>
            <a:endParaRPr lang="zh-CN" sz="2000"/>
          </a:p>
          <a:p>
            <a:pPr marL="0" indent="0">
              <a:buNone/>
            </a:pPr>
            <a:r>
              <a:rPr lang="en-US" altLang="zh-CN" sz="2000"/>
              <a:t>K </a:t>
            </a:r>
            <a:r>
              <a:rPr lang="zh-CN" altLang="en-US" sz="2000"/>
              <a:t>采样将逆向过程建模为连续的常微分方程：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对比传统的</a:t>
            </a:r>
            <a:r>
              <a:rPr lang="en-US" altLang="zh-CN" sz="2000"/>
              <a:t>DDPM/DDIM</a:t>
            </a:r>
            <a:r>
              <a:rPr lang="zh-CN" altLang="en-US" sz="2000"/>
              <a:t>采样，效率更高更灵活，且</a:t>
            </a:r>
            <a:r>
              <a:rPr lang="zh-CN" altLang="en-US" sz="2000"/>
              <a:t>更稳定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4480" y="1764030"/>
            <a:ext cx="2686050" cy="476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0" y="2446020"/>
            <a:ext cx="196215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200"/>
              <a:t>Point-e</a:t>
            </a:r>
            <a:r>
              <a:rPr lang="zh-CN" altLang="en-US" sz="3200"/>
              <a:t>学习</a:t>
            </a:r>
            <a:r>
              <a:rPr lang="en-US" altLang="zh-CN" sz="3200"/>
              <a:t>-</a:t>
            </a:r>
            <a:r>
              <a:rPr lang="zh-CN" altLang="en-US" sz="3200"/>
              <a:t>多阶段点云上采样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000"/>
              <a:t>传递</a:t>
            </a:r>
            <a:r>
              <a:rPr lang="en-US" altLang="zh-CN" sz="2000"/>
              <a:t> low_res </a:t>
            </a:r>
            <a:r>
              <a:rPr lang="zh-CN" altLang="en-US" sz="2000"/>
              <a:t>参数，通过拼接的</a:t>
            </a:r>
            <a:r>
              <a:rPr lang="zh-CN" altLang="en-US" sz="2000"/>
              <a:t>方式实现点云上采样，从少点到多点逐步生成</a:t>
            </a:r>
            <a:r>
              <a:rPr lang="zh-CN" altLang="en-US" sz="2000">
                <a:sym typeface="+mn-ea"/>
              </a:rPr>
              <a:t>用</a:t>
            </a:r>
            <a:r>
              <a:rPr lang="en-US" altLang="zh-CN" sz="2000">
                <a:sym typeface="+mn-ea"/>
              </a:rPr>
              <a:t> </a:t>
            </a:r>
            <a:endParaRPr lang="en-US" altLang="zh-CN" sz="2000">
              <a:sym typeface="+mn-ea"/>
            </a:endParaRPr>
          </a:p>
          <a:p>
            <a:pPr marL="0" indent="0">
              <a:buNone/>
            </a:pPr>
            <a:endParaRPr lang="en-US" altLang="zh-CN" sz="2000">
              <a:sym typeface="+mn-ea"/>
            </a:endParaRPr>
          </a:p>
          <a:p>
            <a:pPr marL="0" indent="0">
              <a:buNone/>
            </a:pPr>
            <a:r>
              <a:rPr lang="zh-CN" altLang="en-US" sz="2000"/>
              <a:t>第一阶段：</a:t>
            </a:r>
            <a:r>
              <a:rPr lang="en-US" altLang="zh-CN" sz="2000"/>
              <a:t>samples=None</a:t>
            </a:r>
            <a:r>
              <a:rPr lang="zh-CN" altLang="en-US" sz="2000"/>
              <a:t>，没有</a:t>
            </a:r>
            <a:r>
              <a:rPr lang="en-US" altLang="zh-CN" sz="2000"/>
              <a:t>low_res</a:t>
            </a:r>
            <a:r>
              <a:rPr lang="zh-CN" altLang="en-US" sz="2000"/>
              <a:t>参数，直接生成初始低分辨率点云（比如</a:t>
            </a:r>
            <a:r>
              <a:rPr lang="en-US" altLang="zh-CN" sz="2000"/>
              <a:t> 1024 </a:t>
            </a:r>
            <a:r>
              <a:rPr lang="zh-CN" altLang="en-US" sz="2000"/>
              <a:t>个点）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第二阶段及以后：</a:t>
            </a:r>
            <a:r>
              <a:rPr lang="en-US" altLang="zh-CN" sz="2000"/>
              <a:t>low_res</a:t>
            </a:r>
            <a:r>
              <a:rPr lang="zh-CN" altLang="en-US" sz="2000"/>
              <a:t>是上一阶段生成的低分辨率点云，触发拼接，实现上采样。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比如</a:t>
            </a:r>
            <a:r>
              <a:rPr lang="en-US" altLang="zh-CN" sz="2000"/>
              <a:t> low_res </a:t>
            </a:r>
            <a:r>
              <a:rPr lang="zh-CN" altLang="en-US" sz="2000"/>
              <a:t>是</a:t>
            </a:r>
            <a:r>
              <a:rPr lang="en-US" altLang="zh-CN" sz="2000"/>
              <a:t> [batch, 3+aux, 1024]</a:t>
            </a:r>
            <a:r>
              <a:rPr lang="zh-CN" altLang="en-US" sz="2000"/>
              <a:t>，新生成的点是</a:t>
            </a:r>
            <a:r>
              <a:rPr lang="en-US" altLang="zh-CN" sz="2000"/>
              <a:t> [batch, 3+aux, 3072]</a:t>
            </a:r>
            <a:r>
              <a:rPr lang="zh-CN" altLang="en-US" sz="2000"/>
              <a:t>，拼接后是</a:t>
            </a:r>
            <a:r>
              <a:rPr lang="en-US" altLang="zh-CN" sz="2000"/>
              <a:t> [batch, 3+aux, 4096]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最终</a:t>
            </a:r>
            <a:r>
              <a:rPr lang="zh-CN" altLang="en-US" sz="2000"/>
              <a:t>生成张量</a:t>
            </a:r>
            <a:r>
              <a:rPr lang="en-US" altLang="zh-CN" sz="2000"/>
              <a:t> shape </a:t>
            </a:r>
            <a:r>
              <a:rPr lang="zh-CN" altLang="en-US" sz="2000"/>
              <a:t>为</a:t>
            </a:r>
            <a:r>
              <a:rPr lang="en-US" altLang="zh-CN" sz="2000"/>
              <a:t> [batch, 3+aux, num_points]</a:t>
            </a:r>
            <a:r>
              <a:rPr lang="zh-CN" altLang="en-US" sz="2000"/>
              <a:t>，后处理转换为标准点云格式</a:t>
            </a:r>
            <a:endParaRPr lang="zh-CN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702425" cy="819150"/>
          </a:xfrm>
        </p:spPr>
        <p:txBody>
          <a:bodyPr/>
          <a:p>
            <a:r>
              <a:rPr lang="zh-CN" altLang="en-US" sz="3200"/>
              <a:t>大型</a:t>
            </a:r>
            <a:r>
              <a:rPr lang="en-US" altLang="zh-CN" sz="3200"/>
              <a:t>Transformer</a:t>
            </a:r>
            <a:r>
              <a:rPr lang="zh-CN" altLang="en-US" sz="3200"/>
              <a:t>架构</a:t>
            </a:r>
            <a:endParaRPr lang="zh-CN" altLang="en-US" sz="32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65250" y="1680845"/>
            <a:ext cx="8609330" cy="44380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65860" y="1184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LRM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>
                <a:sym typeface="+mn-ea"/>
              </a:rPr>
              <a:t>大型</a:t>
            </a:r>
            <a:r>
              <a:rPr lang="en-US" altLang="zh-CN" sz="3200">
                <a:sym typeface="+mn-ea"/>
              </a:rPr>
              <a:t>Transformer</a:t>
            </a:r>
            <a:r>
              <a:rPr lang="zh-CN" altLang="en-US" sz="3200">
                <a:sym typeface="+mn-ea"/>
              </a:rPr>
              <a:t>架构</a:t>
            </a:r>
            <a:endParaRPr lang="zh-CN" altLang="en-US" sz="32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8850" y="2204720"/>
            <a:ext cx="9359900" cy="3708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85545" y="15671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SF3</a:t>
            </a:r>
            <a:r>
              <a:rPr lang="en-US" altLang="zh-CN"/>
              <a:t>D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俩阶段优化</a:t>
            </a:r>
            <a:endParaRPr lang="zh-CN" altLang="en-US" sz="32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64260" y="1618615"/>
            <a:ext cx="8582025" cy="26593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1070" y="4577715"/>
            <a:ext cx="9122410" cy="99377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1600" b="0" i="0">
                <a:latin typeface="Inter"/>
                <a:ea typeface="Inter"/>
              </a:rPr>
              <a:t>采用两阶段优化流水线，通过 “低分辨率粗模型初始化 </a:t>
            </a:r>
            <a:r>
              <a:rPr lang="en-US" altLang="zh-CN" sz="1600" b="0" i="0">
                <a:latin typeface="Inter"/>
                <a:ea typeface="Inter"/>
              </a:rPr>
              <a:t>+ </a:t>
            </a:r>
            <a:r>
              <a:rPr lang="zh-CN" altLang="en-US" sz="1600" b="0" i="0">
                <a:latin typeface="Inter"/>
                <a:ea typeface="Inter"/>
              </a:rPr>
              <a:t>高分辨率精模型微调” 的逻辑</a:t>
            </a:r>
            <a:endParaRPr lang="zh-CN" altLang="en-US" sz="1600" b="0" i="0">
              <a:latin typeface="Inter"/>
              <a:ea typeface="Inter"/>
            </a:endParaRPr>
          </a:p>
          <a:p>
            <a:pPr marL="0" indent="0"/>
            <a:endParaRPr lang="zh-CN" altLang="en-US" sz="1600" b="0" i="0">
              <a:latin typeface="Inter"/>
              <a:ea typeface="Inter"/>
            </a:endParaRPr>
          </a:p>
          <a:p>
            <a:pPr marL="0" indent="0"/>
            <a:r>
              <a:rPr lang="zh-CN" altLang="en-US" sz="1600" b="0" i="0">
                <a:latin typeface="Inter"/>
                <a:ea typeface="Inter"/>
              </a:rPr>
              <a:t>粗阶段：快速学习目标物体的全局几何结构与基础纹理，解决拓扑结构初始化问题</a:t>
            </a:r>
            <a:endParaRPr lang="zh-CN" altLang="en-US" sz="1600" b="0" i="0">
              <a:latin typeface="Inter"/>
              <a:ea typeface="Inter"/>
            </a:endParaRPr>
          </a:p>
          <a:p>
            <a:pPr marL="0" indent="0"/>
            <a:endParaRPr lang="zh-CN" altLang="en-US" sz="1600" b="0" i="0">
              <a:latin typeface="Inter"/>
              <a:ea typeface="Inter"/>
            </a:endParaRPr>
          </a:p>
          <a:p>
            <a:pPr marL="0" indent="0"/>
            <a:r>
              <a:rPr lang="zh-CN" altLang="en-US" sz="1600" b="0" i="0">
                <a:latin typeface="Inter"/>
                <a:ea typeface="Inter"/>
              </a:rPr>
              <a:t>精阶段：在粗模型基础上，恢复高频率几何细节与纹理细节，提升模型保真度</a:t>
            </a:r>
            <a:endParaRPr lang="zh-CN" altLang="en-US" sz="1600" b="0" i="0">
              <a:latin typeface="Inter"/>
              <a:ea typeface="Inter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8200" y="133413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Magic3D</a:t>
            </a:r>
            <a:r>
              <a:rPr lang="zh-CN" altLang="en-US"/>
              <a:t>（</a:t>
            </a:r>
            <a:r>
              <a:rPr lang="en-US" altLang="zh-CN"/>
              <a:t>dreamfusion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WPS 演示</Application>
  <PresentationFormat>宽屏</PresentationFormat>
  <Paragraphs>52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Inter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老水</cp:lastModifiedBy>
  <cp:revision>5</cp:revision>
  <dcterms:created xsi:type="dcterms:W3CDTF">2023-08-09T12:44:00Z</dcterms:created>
  <dcterms:modified xsi:type="dcterms:W3CDTF">2025-12-22T16:26:15Z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61257FDB40AC4616864BA5DD2C0756AC_12</vt:lpwstr>
  </property>
</Properties>
</file>