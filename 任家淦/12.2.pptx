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2" r:id="rId4"/>
    <p:sldId id="261" r:id="rId5"/>
    <p:sldId id="258" r:id="rId6"/>
    <p:sldId id="260" r:id="rId7"/>
    <p:sldId id="259"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t>向编码器输入该</a:t>
            </a:r>
            <a:r>
              <a:rPr lang="en-US" altLang="zh-CN" sz="3200"/>
              <a:t>3D</a:t>
            </a:r>
            <a:r>
              <a:rPr lang="zh-CN" altLang="en-US" sz="3200"/>
              <a:t>模型的两种独立表示</a:t>
            </a:r>
            <a:endParaRPr lang="zh-CN" altLang="en-US" sz="3200"/>
          </a:p>
        </p:txBody>
      </p:sp>
      <p:sp>
        <p:nvSpPr>
          <p:cNvPr id="3" name="内容占位符 2"/>
          <p:cNvSpPr>
            <a:spLocks noGrp="1"/>
          </p:cNvSpPr>
          <p:nvPr>
            <p:ph idx="1"/>
          </p:nvPr>
        </p:nvSpPr>
        <p:spPr>
          <a:xfrm>
            <a:off x="838200" y="1825625"/>
            <a:ext cx="5859145" cy="4351655"/>
          </a:xfrm>
        </p:spPr>
        <p:txBody>
          <a:bodyPr>
            <a:normAutofit/>
          </a:bodyPr>
          <a:p>
            <a:pPr marL="0" indent="0">
              <a:buNone/>
            </a:pPr>
            <a:endParaRPr lang="en-US" altLang="zh-CN" sz="2400">
              <a:sym typeface="+mn-ea"/>
            </a:endParaRPr>
          </a:p>
          <a:p>
            <a:pPr marL="0" indent="0">
              <a:buNone/>
            </a:pPr>
            <a:r>
              <a:rPr lang="en-US" altLang="zh-CN" sz="2400">
                <a:sym typeface="+mn-ea"/>
              </a:rPr>
              <a:t>• </a:t>
            </a:r>
            <a:r>
              <a:rPr lang="zh-CN" altLang="en-US" sz="2400"/>
              <a:t>点云：</a:t>
            </a:r>
            <a:r>
              <a:rPr lang="en-US" altLang="zh-CN" sz="2400"/>
              <a:t> </a:t>
            </a:r>
            <a:r>
              <a:rPr lang="zh-CN" altLang="en-US" sz="2400"/>
              <a:t>对于每个</a:t>
            </a:r>
            <a:r>
              <a:rPr lang="en-US" altLang="zh-CN" sz="2400"/>
              <a:t>3D</a:t>
            </a:r>
            <a:r>
              <a:rPr lang="zh-CN" altLang="en-US" sz="2400"/>
              <a:t>资产，预先计算一个包含</a:t>
            </a:r>
            <a:r>
              <a:rPr lang="en-US" altLang="zh-CN" sz="2400"/>
              <a:t>16384</a:t>
            </a:r>
            <a:r>
              <a:rPr lang="zh-CN" altLang="en-US" sz="2400"/>
              <a:t>个点的</a:t>
            </a:r>
            <a:r>
              <a:rPr lang="en-US" altLang="zh-CN" sz="2400"/>
              <a:t>RGB</a:t>
            </a:r>
            <a:r>
              <a:rPr lang="zh-CN" altLang="en-US" sz="2400"/>
              <a:t>点云。</a:t>
            </a:r>
            <a:endParaRPr lang="zh-CN" altLang="en-US" sz="2400"/>
          </a:p>
          <a:p>
            <a:pPr marL="0" indent="0">
              <a:buNone/>
            </a:pPr>
            <a:endParaRPr lang="zh-CN" altLang="en-US" sz="2400"/>
          </a:p>
          <a:p>
            <a:pPr marL="0" indent="0">
              <a:buNone/>
            </a:pPr>
            <a:r>
              <a:rPr lang="en-US" altLang="zh-CN" sz="2400"/>
              <a:t>• </a:t>
            </a:r>
            <a:r>
              <a:rPr lang="zh-CN" altLang="en-US" sz="2400"/>
              <a:t>多视角点云：</a:t>
            </a:r>
            <a:r>
              <a:rPr lang="en-US" altLang="zh-CN" sz="2400"/>
              <a:t> </a:t>
            </a:r>
            <a:r>
              <a:rPr lang="zh-CN" altLang="en-US" sz="2400"/>
              <a:t>不仅生成点云数据，还会从随机角度以</a:t>
            </a:r>
            <a:r>
              <a:rPr lang="en-US" altLang="zh-CN" sz="2400"/>
              <a:t> 256</a:t>
            </a:r>
            <a:r>
              <a:rPr lang="en-US" altLang="en-US" sz="2400"/>
              <a:t>×</a:t>
            </a:r>
            <a:r>
              <a:rPr lang="en-US" altLang="zh-CN" sz="2400"/>
              <a:t> 256</a:t>
            </a:r>
            <a:r>
              <a:rPr lang="zh-CN" altLang="en-US" sz="2400"/>
              <a:t>分辨率渲染每个</a:t>
            </a:r>
            <a:r>
              <a:rPr lang="en-US" altLang="zh-CN" sz="2400"/>
              <a:t>3D</a:t>
            </a:r>
            <a:r>
              <a:rPr lang="zh-CN" altLang="en-US" sz="2400"/>
              <a:t>资产的</a:t>
            </a:r>
            <a:r>
              <a:rPr lang="en-US" altLang="zh-CN" sz="2400"/>
              <a:t>20</a:t>
            </a:r>
            <a:r>
              <a:rPr lang="zh-CN" altLang="en-US" sz="2400"/>
              <a:t>个视角。通过为每个前景像素添加（</a:t>
            </a:r>
            <a:r>
              <a:rPr lang="en-US" altLang="zh-CN" sz="2400"/>
              <a:t>x</a:t>
            </a:r>
            <a:r>
              <a:rPr lang="zh-CN" altLang="en-US" sz="2400"/>
              <a:t>，</a:t>
            </a:r>
            <a:r>
              <a:rPr lang="en-US" altLang="zh-CN" sz="2400"/>
              <a:t>y</a:t>
            </a:r>
            <a:r>
              <a:rPr lang="zh-CN" altLang="en-US" sz="2400"/>
              <a:t>，</a:t>
            </a:r>
            <a:r>
              <a:rPr lang="en-US" altLang="zh-CN" sz="2400"/>
              <a:t>z</a:t>
            </a:r>
            <a:r>
              <a:rPr lang="zh-CN" altLang="en-US" sz="2400"/>
              <a:t>）表面坐标，生成</a:t>
            </a:r>
            <a:r>
              <a:rPr lang="en-US" altLang="zh-CN" sz="2400"/>
              <a:t>256 </a:t>
            </a:r>
            <a:r>
              <a:rPr lang="en-US" altLang="en-US" sz="2400"/>
              <a:t>×</a:t>
            </a:r>
            <a:r>
              <a:rPr lang="en-US" altLang="zh-CN" sz="2400"/>
              <a:t>256 </a:t>
            </a:r>
            <a:r>
              <a:rPr lang="en-US" altLang="en-US" sz="2400"/>
              <a:t>×</a:t>
            </a:r>
            <a:r>
              <a:rPr lang="en-US" altLang="zh-CN" sz="2400"/>
              <a:t> 7</a:t>
            </a:r>
            <a:r>
              <a:rPr lang="zh-CN" altLang="en-US" sz="2400"/>
              <a:t>的增强图像。将</a:t>
            </a:r>
            <a:r>
              <a:rPr lang="en-US" altLang="zh-CN" sz="2400"/>
              <a:t>8 </a:t>
            </a:r>
            <a:r>
              <a:rPr lang="en-US" altLang="en-US" sz="2400"/>
              <a:t>×</a:t>
            </a:r>
            <a:r>
              <a:rPr lang="en-US" altLang="zh-CN" sz="2400"/>
              <a:t> 8</a:t>
            </a:r>
            <a:r>
              <a:rPr lang="zh-CN" altLang="en-US" sz="2400"/>
              <a:t>图像块嵌入这些增强渲染图后，最终得到包含</a:t>
            </a:r>
            <a:r>
              <a:rPr lang="en-US" altLang="zh-CN" sz="2400"/>
              <a:t>20,480</a:t>
            </a:r>
            <a:r>
              <a:rPr lang="zh-CN" altLang="en-US" sz="2400"/>
              <a:t>个向量的序列，构成完整的</a:t>
            </a:r>
            <a:r>
              <a:rPr lang="en-US" altLang="zh-CN" sz="2400"/>
              <a:t> </a:t>
            </a:r>
            <a:r>
              <a:rPr lang="zh-CN" altLang="en-US" sz="2400"/>
              <a:t>多视角点云</a:t>
            </a:r>
            <a:r>
              <a:rPr lang="en-US" altLang="zh-CN" sz="2400"/>
              <a:t> </a:t>
            </a:r>
            <a:r>
              <a:rPr lang="zh-CN" altLang="en-US" sz="2400"/>
              <a:t>数据集。</a:t>
            </a:r>
            <a:endParaRPr lang="zh-CN" altLang="en-US" sz="2400"/>
          </a:p>
        </p:txBody>
      </p:sp>
      <p:pic>
        <p:nvPicPr>
          <p:cNvPr id="4" name="图片 3"/>
          <p:cNvPicPr>
            <a:picLocks noChangeAspect="1"/>
          </p:cNvPicPr>
          <p:nvPr/>
        </p:nvPicPr>
        <p:blipFill>
          <a:blip r:embed="rId1"/>
          <a:stretch>
            <a:fillRect/>
          </a:stretch>
        </p:blipFill>
        <p:spPr>
          <a:xfrm>
            <a:off x="6697345" y="1691005"/>
            <a:ext cx="4932680" cy="42075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4"/>
          <p:cNvSpPr/>
          <p:nvPr>
            <p:ph idx="1"/>
          </p:nvPr>
        </p:nvSpPr>
        <p:spPr>
          <a:xfrm>
            <a:off x="1149985" y="93345"/>
            <a:ext cx="9892665" cy="3492500"/>
          </a:xfrm>
        </p:spPr>
        <p:txBody>
          <a:bodyPr>
            <a:normAutofit fontScale="90000"/>
          </a:bodyPr>
          <a:p>
            <a:pPr marL="0" indent="0">
              <a:buNone/>
            </a:pPr>
            <a:r>
              <a:rPr lang="zh-CN" altLang="en-US" sz="2000"/>
              <a:t>首先通过点卷积层将输入的点云数据下采样为</a:t>
            </a:r>
            <a:r>
              <a:rPr lang="en-US" altLang="zh-CN" sz="2000"/>
              <a:t>1K</a:t>
            </a:r>
            <a:r>
              <a:rPr lang="zh-CN" altLang="en-US" sz="2000"/>
              <a:t>个嵌入向量。</a:t>
            </a:r>
            <a:endParaRPr lang="zh-CN" altLang="en-US" sz="2000"/>
          </a:p>
          <a:p>
            <a:pPr marL="0" indent="0">
              <a:buNone/>
            </a:pPr>
            <a:endParaRPr lang="zh-CN" altLang="en-US" sz="2000"/>
          </a:p>
          <a:p>
            <a:pPr marL="0" indent="0">
              <a:buNone/>
            </a:pPr>
            <a:r>
              <a:rPr lang="zh-CN" altLang="en-US" sz="2000"/>
              <a:t>这些嵌入向量与训练得到的输入嵌入向量</a:t>
            </a:r>
            <a:r>
              <a:rPr lang="en-US" altLang="zh-CN" sz="2000"/>
              <a:t> h </a:t>
            </a:r>
            <a:r>
              <a:rPr lang="zh-CN" altLang="en-US" sz="2000"/>
              <a:t>进行拼接，生成查询序列</a:t>
            </a:r>
            <a:r>
              <a:rPr lang="en-US" altLang="zh-CN" sz="2000"/>
              <a:t> h </a:t>
            </a:r>
            <a:r>
              <a:rPr lang="zh-CN" altLang="en-US" sz="2000"/>
              <a:t>。通过单个交叉注意力层对</a:t>
            </a:r>
            <a:r>
              <a:rPr lang="en-US" altLang="zh-CN" sz="2000"/>
              <a:t> h </a:t>
            </a:r>
            <a:r>
              <a:rPr lang="zh-CN" altLang="en-US" sz="2000"/>
              <a:t>进行更新，该层会参考输入点云数据。</a:t>
            </a:r>
            <a:endParaRPr lang="zh-CN" altLang="en-US" sz="2000"/>
          </a:p>
          <a:p>
            <a:pPr marL="0" indent="0">
              <a:buNone/>
            </a:pPr>
            <a:r>
              <a:rPr lang="zh-CN" altLang="en-US" sz="2000"/>
              <a:t>接着，再次通过交叉注意力机制对嵌入多视点云的局部区域</a:t>
            </a:r>
            <a:r>
              <a:rPr lang="en-US" altLang="zh-CN" sz="2000"/>
              <a:t> m </a:t>
            </a:r>
            <a:r>
              <a:rPr lang="zh-CN" altLang="en-US" sz="2000"/>
              <a:t>进行更新。随后，用</a:t>
            </a:r>
            <a:r>
              <a:rPr lang="en-US" altLang="zh-CN" sz="2000"/>
              <a:t>Transformer</a:t>
            </a:r>
            <a:r>
              <a:rPr lang="zh-CN" altLang="en-US" sz="2000"/>
              <a:t>对</a:t>
            </a:r>
            <a:r>
              <a:rPr lang="en-US" altLang="zh-CN" sz="2000"/>
              <a:t> h </a:t>
            </a:r>
            <a:r>
              <a:rPr lang="zh-CN" altLang="en-US" sz="2000"/>
              <a:t>进行处理，并将</a:t>
            </a:r>
            <a:r>
              <a:rPr lang="en-US" altLang="zh-CN" sz="2000"/>
              <a:t>1K</a:t>
            </a:r>
            <a:r>
              <a:rPr lang="zh-CN" altLang="en-US" sz="2000"/>
              <a:t>个后缀标记作为潜在向量。接着对这些潜在向量应用</a:t>
            </a:r>
            <a:r>
              <a:rPr lang="en-US" altLang="zh-CN" sz="2000"/>
              <a:t>tanh</a:t>
            </a:r>
            <a:r>
              <a:rPr lang="zh-CN" altLang="en-US" sz="2000"/>
              <a:t>（</a:t>
            </a:r>
            <a:r>
              <a:rPr lang="en-US" altLang="zh-CN" sz="2000"/>
              <a:t>x</a:t>
            </a:r>
            <a:r>
              <a:rPr lang="zh-CN" altLang="en-US" sz="2000"/>
              <a:t>）激活函数，将其限制在</a:t>
            </a:r>
            <a:r>
              <a:rPr lang="en-US" altLang="zh-CN" sz="2000"/>
              <a:t>[ - 1 </a:t>
            </a:r>
            <a:r>
              <a:rPr lang="zh-CN" altLang="en-US" sz="2000"/>
              <a:t>，</a:t>
            </a:r>
            <a:r>
              <a:rPr lang="en-US" altLang="zh-CN" sz="2000"/>
              <a:t> 1]</a:t>
            </a:r>
            <a:r>
              <a:rPr lang="zh-CN" altLang="en-US" sz="2000"/>
              <a:t>范围内。</a:t>
            </a:r>
            <a:endParaRPr lang="zh-CN" altLang="en-US" sz="2000"/>
          </a:p>
          <a:p>
            <a:pPr marL="0" indent="0">
              <a:buNone/>
            </a:pPr>
            <a:endParaRPr lang="zh-CN" altLang="en-US" sz="2000"/>
          </a:p>
          <a:p>
            <a:pPr marL="0" indent="0">
              <a:buNone/>
            </a:pPr>
            <a:r>
              <a:rPr lang="zh-CN" altLang="en-US" sz="2000"/>
              <a:t>在计算出，潜在变量序列后，我们以</a:t>
            </a:r>
            <a:r>
              <a:rPr lang="en-US" altLang="zh-CN" sz="2000"/>
              <a:t>0.1</a:t>
            </a:r>
            <a:r>
              <a:rPr lang="zh-CN" altLang="en-US" sz="2000"/>
              <a:t>的概率对潜在变量施加高斯扩散噪声</a:t>
            </a:r>
            <a:r>
              <a:rPr lang="en-US" altLang="zh-CN" sz="2000"/>
              <a:t> q</a:t>
            </a:r>
            <a:r>
              <a:rPr lang="zh-CN" altLang="en-US" sz="2000"/>
              <a:t>（</a:t>
            </a:r>
            <a:r>
              <a:rPr lang="en-US" altLang="zh-CN" sz="2000"/>
              <a:t>h t</a:t>
            </a:r>
            <a:r>
              <a:rPr lang="zh-CN" altLang="en-US" sz="2000"/>
              <a:t>）。对于这种扩散噪声，我们采用调度策略。</a:t>
            </a:r>
            <a:r>
              <a:rPr lang="en-US" altLang="zh-CN" sz="2000"/>
              <a:t>α</a:t>
            </a:r>
            <a:r>
              <a:rPr lang="en-US" altLang="en-US" sz="2000"/>
              <a:t>¯</a:t>
            </a:r>
            <a:r>
              <a:rPr lang="en-US" altLang="zh-CN" sz="2000"/>
              <a:t>t =1 -t5 </a:t>
            </a:r>
            <a:r>
              <a:rPr lang="zh-CN" altLang="en-US" sz="2000"/>
              <a:t>，这通常会产生很少的噪声。在噪声层和瓶颈层之后，我们将每个潜在向量投影到</a:t>
            </a:r>
            <a:r>
              <a:rPr lang="en-US" altLang="zh-CN" sz="2000"/>
              <a:t>256</a:t>
            </a:r>
            <a:r>
              <a:rPr lang="zh-CN" altLang="en-US" sz="2000"/>
              <a:t>维，并将得到的潜在向量堆叠成</a:t>
            </a:r>
            <a:r>
              <a:rPr lang="en-US" altLang="zh-CN" sz="2000"/>
              <a:t>4</a:t>
            </a:r>
            <a:r>
              <a:rPr lang="zh-CN" altLang="en-US" sz="2000"/>
              <a:t>个</a:t>
            </a:r>
            <a:r>
              <a:rPr lang="en-US" altLang="zh-CN" sz="2000"/>
              <a:t>256 </a:t>
            </a:r>
            <a:r>
              <a:rPr lang="en-US" altLang="en-US" sz="2000"/>
              <a:t>×</a:t>
            </a:r>
            <a:r>
              <a:rPr lang="en-US" altLang="zh-CN" sz="2000"/>
              <a:t> 256</a:t>
            </a:r>
            <a:r>
              <a:rPr lang="zh-CN" altLang="en-US" sz="2000"/>
              <a:t>的</a:t>
            </a:r>
            <a:r>
              <a:rPr lang="en-US" altLang="zh-CN" sz="2000"/>
              <a:t> MLP </a:t>
            </a:r>
            <a:r>
              <a:rPr lang="zh-CN" altLang="en-US" sz="2000"/>
              <a:t>权重矩阵</a:t>
            </a:r>
            <a:endParaRPr lang="zh-CN" altLang="en-US" sz="2000"/>
          </a:p>
        </p:txBody>
      </p:sp>
      <p:pic>
        <p:nvPicPr>
          <p:cNvPr id="7" name="图片 6"/>
          <p:cNvPicPr>
            <a:picLocks noChangeAspect="1"/>
          </p:cNvPicPr>
          <p:nvPr/>
        </p:nvPicPr>
        <p:blipFill>
          <a:blip r:embed="rId1"/>
          <a:stretch>
            <a:fillRect/>
          </a:stretch>
        </p:blipFill>
        <p:spPr>
          <a:xfrm>
            <a:off x="1668780" y="3585845"/>
            <a:ext cx="8518525" cy="29571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t>编码器训练</a:t>
            </a:r>
            <a:endParaRPr lang="zh-CN" altLang="en-US" sz="3200"/>
          </a:p>
        </p:txBody>
      </p:sp>
      <p:sp>
        <p:nvSpPr>
          <p:cNvPr id="3" name="内容占位符 2"/>
          <p:cNvSpPr>
            <a:spLocks noGrp="1"/>
          </p:cNvSpPr>
          <p:nvPr>
            <p:ph idx="1"/>
          </p:nvPr>
        </p:nvSpPr>
        <p:spPr>
          <a:xfrm>
            <a:off x="930275" y="2195195"/>
            <a:ext cx="10515600" cy="2839720"/>
          </a:xfrm>
        </p:spPr>
        <p:txBody>
          <a:bodyPr>
            <a:normAutofit/>
          </a:bodyPr>
          <a:p>
            <a:pPr marL="0" indent="0" fontAlgn="auto">
              <a:lnSpc>
                <a:spcPct val="100000"/>
              </a:lnSpc>
              <a:buNone/>
            </a:pPr>
            <a:r>
              <a:rPr lang="en-US" altLang="zh-CN" sz="2000"/>
              <a:t>         </a:t>
            </a:r>
            <a:r>
              <a:rPr lang="zh-CN" altLang="en-US" sz="2000"/>
              <a:t>使用</a:t>
            </a:r>
            <a:r>
              <a:rPr lang="en-US" altLang="zh-CN" sz="2000"/>
              <a:t>Adam</a:t>
            </a:r>
            <a:r>
              <a:rPr lang="zh-CN" altLang="en-US" sz="2000"/>
              <a:t>优化器对编码器进行预训练，训练</a:t>
            </a:r>
            <a:r>
              <a:rPr lang="en-US" altLang="zh-CN" sz="2000"/>
              <a:t>60</a:t>
            </a:r>
            <a:r>
              <a:rPr lang="zh-CN" altLang="en-US" sz="2000"/>
              <a:t>万次迭代，学习率设为</a:t>
            </a:r>
            <a:r>
              <a:rPr lang="en-US" altLang="zh-CN" sz="2000"/>
              <a:t>10-4</a:t>
            </a:r>
            <a:r>
              <a:rPr lang="zh-CN" altLang="en-US" sz="2000"/>
              <a:t>，批量大小为</a:t>
            </a:r>
            <a:r>
              <a:rPr lang="en-US" altLang="zh-CN" sz="2000"/>
              <a:t>64</a:t>
            </a:r>
            <a:r>
              <a:rPr lang="zh-CN" altLang="en-US" sz="2000"/>
              <a:t>。随后对</a:t>
            </a:r>
            <a:r>
              <a:rPr lang="en-US" altLang="zh-CN" sz="2000"/>
              <a:t> STF </a:t>
            </a:r>
            <a:r>
              <a:rPr lang="zh-CN" altLang="en-US" sz="2000"/>
              <a:t>蒸馏模型进行</a:t>
            </a:r>
            <a:r>
              <a:rPr lang="en-US" altLang="zh-CN" sz="2000"/>
              <a:t>5</a:t>
            </a:r>
            <a:r>
              <a:rPr lang="zh-CN" altLang="en-US" sz="2000"/>
              <a:t>万次迭代训练，学习率调整为</a:t>
            </a:r>
            <a:r>
              <a:rPr lang="en-US" altLang="zh-CN" sz="2000"/>
              <a:t>10-4</a:t>
            </a:r>
            <a:r>
              <a:rPr lang="zh-CN" altLang="en-US" sz="2000"/>
              <a:t>，保持批量大小</a:t>
            </a:r>
            <a:r>
              <a:rPr lang="en-US" altLang="zh-CN" sz="2000"/>
              <a:t>64</a:t>
            </a:r>
            <a:r>
              <a:rPr lang="zh-CN" altLang="en-US" sz="2000"/>
              <a:t>。在</a:t>
            </a:r>
            <a:r>
              <a:rPr lang="en-US" altLang="zh-CN" sz="2000"/>
              <a:t> STF </a:t>
            </a:r>
            <a:r>
              <a:rPr lang="zh-CN" altLang="en-US" sz="2000"/>
              <a:t>蒸馏过程中，我们对每个</a:t>
            </a:r>
            <a:r>
              <a:rPr lang="en-US" altLang="zh-CN" sz="2000"/>
              <a:t>3D</a:t>
            </a:r>
            <a:r>
              <a:rPr lang="zh-CN" altLang="en-US" sz="2000"/>
              <a:t>模型随机采样</a:t>
            </a:r>
            <a:r>
              <a:rPr lang="en-US" altLang="zh-CN" sz="2000"/>
              <a:t>3.2</a:t>
            </a:r>
            <a:r>
              <a:rPr lang="zh-CN" altLang="en-US" sz="2000"/>
              <a:t>万个点进行数据查询。在</a:t>
            </a:r>
            <a:r>
              <a:rPr lang="en-US" altLang="zh-CN" sz="2000"/>
              <a:t> STF </a:t>
            </a:r>
            <a:r>
              <a:rPr lang="zh-CN" altLang="en-US" sz="2000"/>
              <a:t>渲染训练阶段，采用与蒸馏训练相同的超参数进行</a:t>
            </a:r>
            <a:r>
              <a:rPr lang="en-US" altLang="zh-CN" sz="2000"/>
              <a:t>6.5</a:t>
            </a:r>
            <a:r>
              <a:rPr lang="zh-CN" altLang="en-US" sz="2000"/>
              <a:t>万次迭代微调。每个训练阶段都会重新初始化优化器状态。预训练阶段使用</a:t>
            </a:r>
            <a:r>
              <a:rPr lang="en-US" altLang="zh-CN" sz="2000"/>
              <a:t>16</a:t>
            </a:r>
            <a:r>
              <a:rPr lang="zh-CN" altLang="en-US" sz="2000"/>
              <a:t>位精度并配合损失缩放，但发现需要完整</a:t>
            </a:r>
            <a:r>
              <a:rPr lang="en-US" altLang="zh-CN" sz="2000"/>
              <a:t>32</a:t>
            </a:r>
            <a:r>
              <a:rPr lang="zh-CN" altLang="en-US" sz="2000"/>
              <a:t>位精度才能确保微调过程的稳定性。</a:t>
            </a:r>
            <a:endParaRPr lang="zh-CN" altLang="en-US" sz="2000"/>
          </a:p>
          <a:p>
            <a:pPr marL="0" indent="0" fontAlgn="auto">
              <a:lnSpc>
                <a:spcPct val="100000"/>
              </a:lnSpc>
              <a:buNone/>
            </a:pPr>
            <a:endParaRPr lang="zh-CN"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169545"/>
            <a:ext cx="10076815" cy="1048385"/>
          </a:xfrm>
        </p:spPr>
        <p:txBody>
          <a:bodyPr/>
          <a:p>
            <a:r>
              <a:rPr lang="zh-CN" altLang="en-US" sz="3200"/>
              <a:t>扩散模型</a:t>
            </a:r>
            <a:endParaRPr lang="zh-CN" altLang="en-US" sz="3200"/>
          </a:p>
        </p:txBody>
      </p:sp>
      <p:sp>
        <p:nvSpPr>
          <p:cNvPr id="3" name="内容占位符 2"/>
          <p:cNvSpPr>
            <a:spLocks noGrp="1"/>
          </p:cNvSpPr>
          <p:nvPr>
            <p:ph idx="1"/>
          </p:nvPr>
        </p:nvSpPr>
        <p:spPr>
          <a:xfrm>
            <a:off x="711835" y="903605"/>
            <a:ext cx="10641965" cy="3897630"/>
          </a:xfrm>
        </p:spPr>
        <p:txBody>
          <a:bodyPr>
            <a:normAutofit fontScale="75000"/>
          </a:bodyPr>
          <a:p>
            <a:pPr marL="0" indent="0">
              <a:buNone/>
            </a:pPr>
            <a:r>
              <a:rPr lang="zh-CN" altLang="en-US"/>
              <a:t>在训练扩散模型时，采用与</a:t>
            </a:r>
            <a:r>
              <a:rPr lang="en-US" altLang="zh-CN"/>
              <a:t>300M</a:t>
            </a:r>
            <a:r>
              <a:rPr lang="zh-CN" altLang="en-US"/>
              <a:t>参数</a:t>
            </a:r>
            <a:r>
              <a:rPr lang="en-US" altLang="zh-CN"/>
              <a:t>Point · E</a:t>
            </a:r>
            <a:r>
              <a:rPr lang="zh-CN" altLang="en-US"/>
              <a:t>模型相同的超参数。唯一不同之处在于，</a:t>
            </a:r>
            <a:r>
              <a:rPr lang="en-US" altLang="zh-CN"/>
              <a:t>Shap-E</a:t>
            </a:r>
            <a:r>
              <a:rPr lang="zh-CN" altLang="en-US"/>
              <a:t>使用更大的输入和输出投影来适应</a:t>
            </a:r>
            <a:r>
              <a:rPr lang="en-US" altLang="zh-CN"/>
              <a:t>1024</a:t>
            </a:r>
            <a:r>
              <a:rPr lang="zh-CN" altLang="en-US"/>
              <a:t>个特征通道（而非</a:t>
            </a:r>
            <a:r>
              <a:rPr lang="en-US" altLang="zh-CN"/>
              <a:t>6</a:t>
            </a:r>
            <a:r>
              <a:rPr lang="zh-CN" altLang="en-US"/>
              <a:t>个）。对于扩散模型而言，噪声调度</a:t>
            </a:r>
            <a:r>
              <a:rPr lang="en-US" altLang="zh-CN"/>
              <a:t> Q </a:t>
            </a:r>
            <a:r>
              <a:rPr lang="zh-CN" altLang="en-US"/>
              <a:t>的选择往往会对样本质量产生重大影响，样本与特定时间步长注入噪声之间的相对尺度决定了该时间步长的信息破坏程度，希望采用能逐步破坏信号语义信息的噪声调度方案。余弦和线性调度方案，以及一个视觉上被证实能逐步破坏信息的调度方案：</a:t>
            </a:r>
            <a:r>
              <a:rPr lang="en-US" altLang="zh-CN" i="1">
                <a:solidFill>
                  <a:srgbClr val="000000"/>
                </a:solidFill>
                <a:latin typeface="Times New Roman" panose="02020603050405020304"/>
                <a:ea typeface="Times New Roman" panose="02020603050405020304"/>
                <a:sym typeface="+mn-ea"/>
              </a:rPr>
              <a:t>Q </a:t>
            </a:r>
            <a:r>
              <a:rPr lang="en-US" altLang="zh-CN">
                <a:solidFill>
                  <a:srgbClr val="000000"/>
                </a:solidFill>
                <a:latin typeface="Times New Roman" panose="02020603050405020304"/>
                <a:ea typeface="Times New Roman" panose="02020603050405020304"/>
                <a:sym typeface="+mn-ea"/>
              </a:rPr>
              <a:t>- = </a:t>
            </a:r>
            <a:r>
              <a:rPr lang="en-US" altLang="zh-CN" i="1">
                <a:solidFill>
                  <a:srgbClr val="000000"/>
                </a:solidFill>
                <a:latin typeface="Times New Roman" panose="02020603050405020304"/>
                <a:ea typeface="Times New Roman" panose="02020603050405020304"/>
                <a:sym typeface="+mn-ea"/>
              </a:rPr>
              <a:t>e ^</a:t>
            </a:r>
            <a:r>
              <a:rPr lang="en-US" altLang="zh-CN" i="1">
                <a:solidFill>
                  <a:srgbClr val="000000"/>
                </a:solidFill>
                <a:latin typeface="CMSY7"/>
                <a:ea typeface="CMSY7"/>
                <a:sym typeface="+mn-ea"/>
              </a:rPr>
              <a:t>−</a:t>
            </a:r>
            <a:r>
              <a:rPr lang="en-US" altLang="zh-CN">
                <a:solidFill>
                  <a:srgbClr val="000000"/>
                </a:solidFill>
                <a:latin typeface="CMR7"/>
                <a:ea typeface="CMR7"/>
                <a:sym typeface="+mn-ea"/>
              </a:rPr>
              <a:t>12</a:t>
            </a:r>
            <a:r>
              <a:rPr lang="en-US" altLang="zh-CN" i="1">
                <a:solidFill>
                  <a:srgbClr val="000000"/>
                </a:solidFill>
                <a:latin typeface="CMMI7"/>
                <a:ea typeface="CMMI7"/>
                <a:sym typeface="+mn-ea"/>
              </a:rPr>
              <a:t>t </a:t>
            </a:r>
            <a:r>
              <a:rPr lang="en-US" altLang="zh-CN"/>
              <a:t> </a:t>
            </a:r>
            <a:r>
              <a:rPr lang="zh-CN" altLang="en-US"/>
              <a:t>。实验结果表明，后一种调度方案在评估指标上表现更优，因此我们决定在后续所有实验中采用该方案。</a:t>
            </a:r>
            <a:endParaRPr lang="zh-CN" altLang="en-US"/>
          </a:p>
          <a:p>
            <a:pPr marL="0" indent="0">
              <a:buNone/>
            </a:pPr>
            <a:r>
              <a:rPr lang="zh-CN" altLang="en-US"/>
              <a:t>在</a:t>
            </a:r>
            <a:r>
              <a:rPr lang="en-US" altLang="zh-CN"/>
              <a:t>Heun</a:t>
            </a:r>
            <a:r>
              <a:rPr lang="zh-CN" altLang="en-US"/>
              <a:t>采样中采用了与</a:t>
            </a:r>
            <a:r>
              <a:rPr lang="en-US" altLang="zh-CN"/>
              <a:t>Point · E</a:t>
            </a:r>
            <a:r>
              <a:rPr lang="zh-CN" altLang="en-US"/>
              <a:t>相似的超参数设置，但发现对于</a:t>
            </a:r>
            <a:r>
              <a:rPr lang="en-US" altLang="zh-CN"/>
              <a:t>Shap · E</a:t>
            </a:r>
            <a:r>
              <a:rPr lang="zh-CN" altLang="en-US"/>
              <a:t>而言，将</a:t>
            </a:r>
            <a:r>
              <a:rPr lang="en-US" altLang="zh-CN"/>
              <a:t> s churn </a:t>
            </a:r>
            <a:r>
              <a:rPr lang="zh-CN" altLang="en-US"/>
              <a:t>设为</a:t>
            </a:r>
            <a:r>
              <a:rPr lang="en-US" altLang="zh-CN"/>
              <a:t>0</a:t>
            </a:r>
            <a:r>
              <a:rPr lang="zh-CN" altLang="en-US"/>
              <a:t>是更优选择，而</a:t>
            </a:r>
            <a:r>
              <a:rPr lang="en-US" altLang="zh-CN"/>
              <a:t> s churn=3</a:t>
            </a:r>
            <a:r>
              <a:rPr lang="zh-CN" altLang="en-US"/>
              <a:t>则更适合</a:t>
            </a:r>
            <a:r>
              <a:rPr lang="en-US" altLang="zh-CN"/>
              <a:t>Point · E</a:t>
            </a:r>
            <a:r>
              <a:rPr lang="zh-CN" altLang="en-US"/>
              <a:t>。虽然图像条件模型倾向于采用与</a:t>
            </a:r>
            <a:r>
              <a:rPr lang="en-US" altLang="zh-CN"/>
              <a:t>Point · E</a:t>
            </a:r>
            <a:r>
              <a:rPr lang="zh-CN" altLang="en-US"/>
              <a:t>相同的引导尺度，但文本条件模型在保持评估指标提升的同时，能够容忍更高幅度的引导尺度。实验数据显示，获得最佳文本条件</a:t>
            </a:r>
            <a:r>
              <a:rPr lang="en-US" altLang="zh-CN"/>
              <a:t>Point · E</a:t>
            </a:r>
            <a:r>
              <a:rPr lang="zh-CN" altLang="en-US"/>
              <a:t>样本时采用</a:t>
            </a:r>
            <a:r>
              <a:rPr lang="en-US" altLang="zh-CN"/>
              <a:t>5.0</a:t>
            </a:r>
            <a:r>
              <a:rPr lang="zh-CN" altLang="en-US"/>
              <a:t>的尺度，而</a:t>
            </a:r>
            <a:r>
              <a:rPr lang="en-US" altLang="zh-CN"/>
              <a:t>Shap ·E</a:t>
            </a:r>
            <a:r>
              <a:rPr lang="zh-CN" altLang="en-US"/>
              <a:t>的最佳结果则需要</a:t>
            </a:r>
            <a:r>
              <a:rPr lang="en-US" altLang="zh-CN"/>
              <a:t>20.0</a:t>
            </a:r>
            <a:r>
              <a:rPr lang="zh-CN" altLang="en-US"/>
              <a:t>的尺度。</a:t>
            </a:r>
            <a:endParaRPr lang="zh-CN" altLang="en-US"/>
          </a:p>
        </p:txBody>
      </p:sp>
      <p:pic>
        <p:nvPicPr>
          <p:cNvPr id="4" name="图片 3"/>
          <p:cNvPicPr>
            <a:picLocks noChangeAspect="1"/>
          </p:cNvPicPr>
          <p:nvPr/>
        </p:nvPicPr>
        <p:blipFill>
          <a:blip r:embed="rId1"/>
          <a:stretch>
            <a:fillRect/>
          </a:stretch>
        </p:blipFill>
        <p:spPr>
          <a:xfrm>
            <a:off x="5196840" y="4801235"/>
            <a:ext cx="6525260" cy="1631315"/>
          </a:xfrm>
          <a:prstGeom prst="rect">
            <a:avLst/>
          </a:prstGeom>
        </p:spPr>
      </p:pic>
      <p:sp>
        <p:nvSpPr>
          <p:cNvPr id="5" name="文本框 4"/>
          <p:cNvSpPr txBox="1"/>
          <p:nvPr/>
        </p:nvSpPr>
        <p:spPr>
          <a:xfrm>
            <a:off x="357505" y="5214302"/>
            <a:ext cx="5080000" cy="1060450"/>
          </a:xfrm>
          <a:prstGeom prst="rect">
            <a:avLst/>
          </a:prstGeom>
        </p:spPr>
        <p:txBody>
          <a:bodyPr>
            <a:spAutoFit/>
          </a:bodyPr>
          <a:p>
            <a:r>
              <a:rPr lang="zh-CN" altLang="en-US" sz="2100">
                <a:solidFill>
                  <a:srgbClr val="000000"/>
                </a:solidFill>
                <a:latin typeface="宋体" panose="02010600030101010101" pitchFamily="2" charset="-122"/>
                <a:ea typeface="宋体" panose="02010600030101010101" pitchFamily="2" charset="-122"/>
              </a:rPr>
              <a:t>使用扩散时间表 </a:t>
            </a:r>
            <a:r>
              <a:rPr lang="en-US" altLang="zh-CN" sz="2100" i="1">
                <a:solidFill>
                  <a:srgbClr val="000000"/>
                </a:solidFill>
                <a:latin typeface="Times New Roman" panose="02020603050405020304"/>
                <a:ea typeface="Times New Roman" panose="02020603050405020304"/>
              </a:rPr>
              <a:t>Q</a:t>
            </a:r>
            <a:r>
              <a:rPr lang="en-US" altLang="zh-CN" sz="2100">
                <a:solidFill>
                  <a:srgbClr val="000000"/>
                </a:solidFill>
                <a:latin typeface="Times New Roman" panose="02020603050405020304"/>
                <a:ea typeface="Times New Roman" panose="02020603050405020304"/>
              </a:rPr>
              <a:t>= </a:t>
            </a:r>
            <a:r>
              <a:rPr lang="en-US" altLang="zh-CN" sz="2100" i="1">
                <a:solidFill>
                  <a:srgbClr val="000000"/>
                </a:solidFill>
                <a:latin typeface="Times New Roman" panose="02020603050405020304"/>
                <a:ea typeface="Times New Roman" panose="02020603050405020304"/>
              </a:rPr>
              <a:t>e^ </a:t>
            </a:r>
            <a:r>
              <a:rPr lang="en-US" altLang="zh-CN" sz="1600" i="1">
                <a:solidFill>
                  <a:srgbClr val="000000"/>
                </a:solidFill>
                <a:latin typeface="CMSY7"/>
                <a:ea typeface="CMSY7"/>
              </a:rPr>
              <a:t>−</a:t>
            </a:r>
            <a:r>
              <a:rPr lang="en-US" altLang="zh-CN" sz="1600">
                <a:solidFill>
                  <a:srgbClr val="000000"/>
                </a:solidFill>
                <a:latin typeface="CMR7"/>
                <a:ea typeface="CMR7"/>
              </a:rPr>
              <a:t>12</a:t>
            </a:r>
            <a:r>
              <a:rPr lang="en-US" altLang="zh-CN" sz="1600" i="1">
                <a:solidFill>
                  <a:srgbClr val="000000"/>
                </a:solidFill>
                <a:latin typeface="CMMI7"/>
                <a:ea typeface="CMMI7"/>
              </a:rPr>
              <a:t>t </a:t>
            </a:r>
            <a:r>
              <a:rPr lang="zh-CN" altLang="en-US" sz="2100">
                <a:solidFill>
                  <a:srgbClr val="000000"/>
                </a:solidFill>
                <a:latin typeface="宋体" panose="02010600030101010101" pitchFamily="2" charset="-122"/>
                <a:ea typeface="宋体" panose="02010600030101010101" pitchFamily="2" charset="-122"/>
              </a:rPr>
              <a:t>对噪声潜伏期进行</a:t>
            </a:r>
            <a:r>
              <a:rPr lang="en-US" altLang="zh-CN" sz="2100">
                <a:solidFill>
                  <a:srgbClr val="000000"/>
                </a:solidFill>
                <a:latin typeface="Times New Roman" panose="02020603050405020304"/>
                <a:ea typeface="Times New Roman" panose="02020603050405020304"/>
              </a:rPr>
              <a:t>NeRF</a:t>
            </a:r>
            <a:r>
              <a:rPr lang="zh-CN" altLang="en-US" sz="2100">
                <a:solidFill>
                  <a:srgbClr val="000000"/>
                </a:solidFill>
                <a:latin typeface="宋体" panose="02010600030101010101" pitchFamily="2" charset="-122"/>
                <a:ea typeface="宋体" panose="02010600030101010101" pitchFamily="2" charset="-122"/>
              </a:rPr>
              <a:t>重建。时间步长 </a:t>
            </a:r>
            <a:r>
              <a:rPr lang="en-US" altLang="zh-CN" sz="2100" i="1">
                <a:solidFill>
                  <a:srgbClr val="000000"/>
                </a:solidFill>
                <a:latin typeface="Times New Roman" panose="02020603050405020304"/>
                <a:ea typeface="Times New Roman" panose="02020603050405020304"/>
              </a:rPr>
              <a:t>t </a:t>
            </a:r>
            <a:r>
              <a:rPr lang="zh-CN" altLang="en-US" sz="2100">
                <a:solidFill>
                  <a:srgbClr val="000000"/>
                </a:solidFill>
                <a:latin typeface="宋体" panose="02010600030101010101" pitchFamily="2" charset="-122"/>
                <a:ea typeface="宋体" panose="02010600030101010101" pitchFamily="2" charset="-122"/>
              </a:rPr>
              <a:t>从左到右线 性扫描从</a:t>
            </a:r>
            <a:r>
              <a:rPr lang="en-US" altLang="zh-CN" sz="2100">
                <a:solidFill>
                  <a:srgbClr val="000000"/>
                </a:solidFill>
                <a:latin typeface="Times New Roman" panose="02020603050405020304"/>
                <a:ea typeface="Times New Roman" panose="02020603050405020304"/>
              </a:rPr>
              <a:t>0</a:t>
            </a:r>
            <a:r>
              <a:rPr lang="zh-CN" altLang="en-US" sz="2100">
                <a:solidFill>
                  <a:srgbClr val="000000"/>
                </a:solidFill>
                <a:latin typeface="宋体" panose="02010600030101010101" pitchFamily="2" charset="-122"/>
                <a:ea typeface="宋体" panose="02010600030101010101" pitchFamily="2" charset="-122"/>
              </a:rPr>
              <a:t>到</a:t>
            </a:r>
            <a:r>
              <a:rPr lang="en-US" altLang="zh-CN" sz="2100">
                <a:solidFill>
                  <a:srgbClr val="000000"/>
                </a:solidFill>
                <a:latin typeface="Times New Roman" panose="02020603050405020304"/>
                <a:ea typeface="Times New Roman" panose="02020603050405020304"/>
              </a:rPr>
              <a:t>1</a:t>
            </a:r>
            <a:r>
              <a:rPr lang="zh-CN" altLang="en-US" sz="2100">
                <a:solidFill>
                  <a:srgbClr val="000000"/>
                </a:solidFill>
                <a:latin typeface="宋体" panose="02010600030101010101" pitchFamily="2" charset="-122"/>
                <a:ea typeface="宋体" panose="02010600030101010101" pitchFamily="2" charset="-122"/>
              </a:rPr>
              <a:t>。</a:t>
            </a:r>
            <a:endParaRPr lang="zh-CN" altLang="en-US" sz="210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85800" y="141605"/>
            <a:ext cx="3801745" cy="991235"/>
          </a:xfrm>
        </p:spPr>
        <p:txBody>
          <a:bodyPr/>
          <a:p>
            <a:r>
              <a:rPr lang="zh-CN" altLang="en-US" sz="3200"/>
              <a:t>图像空间中的引导</a:t>
            </a:r>
            <a:endParaRPr lang="zh-CN" altLang="en-US" sz="3200"/>
          </a:p>
        </p:txBody>
      </p:sp>
      <p:sp>
        <p:nvSpPr>
          <p:cNvPr id="3" name="内容占位符 2"/>
          <p:cNvSpPr>
            <a:spLocks noGrp="1"/>
          </p:cNvSpPr>
          <p:nvPr>
            <p:ph idx="1"/>
          </p:nvPr>
        </p:nvSpPr>
        <p:spPr>
          <a:xfrm>
            <a:off x="471170" y="1133475"/>
            <a:ext cx="5556885" cy="4401820"/>
          </a:xfrm>
        </p:spPr>
        <p:txBody>
          <a:bodyPr>
            <a:normAutofit fontScale="65000"/>
          </a:bodyPr>
          <a:p>
            <a:pPr marL="0" indent="0">
              <a:buNone/>
            </a:pPr>
            <a:r>
              <a:rPr lang="zh-CN" altLang="en-US"/>
              <a:t>可以直接在</a:t>
            </a:r>
            <a:r>
              <a:rPr lang="en-US" altLang="zh-CN"/>
              <a:t> </a:t>
            </a:r>
            <a:r>
              <a:rPr lang="zh-CN" altLang="en-US"/>
              <a:t>图像空间</a:t>
            </a:r>
            <a:r>
              <a:rPr lang="en-US" altLang="zh-CN"/>
              <a:t> </a:t>
            </a:r>
            <a:r>
              <a:rPr lang="zh-CN" altLang="en-US"/>
              <a:t>中引导它们。采用</a:t>
            </a:r>
            <a:r>
              <a:rPr lang="en-US" altLang="zh-CN"/>
              <a:t>DreamFusion[</a:t>
            </a:r>
            <a:r>
              <a:rPr lang="zh-CN" altLang="en-US"/>
              <a:t>获取图像空间梯度，促使渲染图像与文本提示产生匹配。由于</a:t>
            </a:r>
            <a:r>
              <a:rPr lang="en-US" altLang="zh-CN"/>
              <a:t>DreamFusion</a:t>
            </a:r>
            <a:r>
              <a:rPr lang="zh-CN" altLang="en-US"/>
              <a:t>需要强大的文本到图像扩散模型，选用参数量达</a:t>
            </a:r>
            <a:r>
              <a:rPr lang="en-US" altLang="zh-CN"/>
              <a:t>30</a:t>
            </a:r>
            <a:r>
              <a:rPr lang="zh-CN" altLang="en-US"/>
              <a:t>亿的</a:t>
            </a:r>
            <a:r>
              <a:rPr lang="en-US" altLang="zh-CN"/>
              <a:t>Glide</a:t>
            </a:r>
            <a:r>
              <a:rPr lang="zh-CN" altLang="en-US"/>
              <a:t>模型。通过文本条件</a:t>
            </a:r>
            <a:r>
              <a:rPr lang="en-US" altLang="zh-CN"/>
              <a:t>Shap · E</a:t>
            </a:r>
            <a:r>
              <a:rPr lang="zh-CN" altLang="en-US"/>
              <a:t>模型进行采样，采用</a:t>
            </a:r>
            <a:r>
              <a:rPr lang="en-US" altLang="zh-CN"/>
              <a:t>1024</a:t>
            </a:r>
            <a:r>
              <a:rPr lang="zh-CN" altLang="en-US"/>
              <a:t>次随机</a:t>
            </a:r>
            <a:r>
              <a:rPr lang="en-US" altLang="zh-CN"/>
              <a:t> DDPM </a:t>
            </a:r>
            <a:r>
              <a:rPr lang="zh-CN" altLang="en-US"/>
              <a:t>步骤。每一步骤中，利用</a:t>
            </a:r>
            <a:r>
              <a:rPr lang="en-US" altLang="zh-CN"/>
              <a:t>NeRF</a:t>
            </a:r>
            <a:r>
              <a:rPr lang="zh-CN" altLang="en-US"/>
              <a:t>的八个渲染视图估算</a:t>
            </a:r>
            <a:r>
              <a:rPr lang="en-US" altLang="zh-CN"/>
              <a:t>DreamFusion</a:t>
            </a:r>
            <a:r>
              <a:rPr lang="zh-CN" altLang="en-US"/>
              <a:t>梯度，随后通过超参数</a:t>
            </a:r>
            <a:r>
              <a:rPr lang="en-US" altLang="zh-CN"/>
              <a:t>s</a:t>
            </a:r>
            <a:r>
              <a:rPr lang="zh-CN" altLang="en-US"/>
              <a:t>对梯度进行缩放</a:t>
            </a:r>
            <a:r>
              <a:rPr lang="en-US" altLang="zh-CN"/>
              <a:t> </a:t>
            </a:r>
            <a:r>
              <a:rPr lang="zh-CN" altLang="en-US"/>
              <a:t>，再进行引导采样。整个过程在八块</a:t>
            </a:r>
            <a:r>
              <a:rPr lang="en-US" altLang="zh-CN"/>
              <a:t> NVIDIA V100GPU</a:t>
            </a:r>
            <a:r>
              <a:rPr lang="zh-CN" altLang="en-US"/>
              <a:t>上运行约</a:t>
            </a:r>
            <a:r>
              <a:rPr lang="en-US" altLang="zh-CN"/>
              <a:t>15</a:t>
            </a:r>
            <a:r>
              <a:rPr lang="zh-CN" altLang="en-US"/>
              <a:t>分钟。在图中，通过固定扩散噪声参数，系统研究了增大</a:t>
            </a:r>
            <a:r>
              <a:rPr lang="en-US" altLang="zh-CN"/>
              <a:t>DreamFusion</a:t>
            </a:r>
            <a:r>
              <a:rPr lang="zh-CN" altLang="en-US"/>
              <a:t>引导尺度</a:t>
            </a:r>
            <a:r>
              <a:rPr lang="en-US" altLang="zh-CN"/>
              <a:t> s </a:t>
            </a:r>
            <a:r>
              <a:rPr lang="zh-CN" altLang="en-US"/>
              <a:t>时的模型表现。实验发现，当使用</a:t>
            </a:r>
            <a:r>
              <a:rPr lang="en-US" altLang="zh-CN"/>
              <a:t> DDPM </a:t>
            </a:r>
            <a:r>
              <a:rPr lang="zh-CN" altLang="en-US"/>
              <a:t>采样时，这个文本条件</a:t>
            </a:r>
            <a:r>
              <a:rPr lang="en-US" altLang="zh-CN"/>
              <a:t> · </a:t>
            </a:r>
            <a:r>
              <a:rPr lang="zh-CN" altLang="en-US"/>
              <a:t>模型本身表现欠佳，</a:t>
            </a:r>
            <a:r>
              <a:rPr lang="en-US" altLang="zh-CN"/>
              <a:t> s =0</a:t>
            </a:r>
            <a:r>
              <a:rPr lang="zh-CN" altLang="en-US"/>
              <a:t>时难以准确捕捉文本提示。但随着引导尺度</a:t>
            </a:r>
            <a:r>
              <a:rPr lang="en-US" altLang="zh-CN"/>
              <a:t> s </a:t>
            </a:r>
            <a:r>
              <a:rPr lang="zh-CN" altLang="en-US"/>
              <a:t>的逐步增大，生成样本逐渐逼近提示内容。</a:t>
            </a:r>
            <a:endParaRPr lang="zh-CN" altLang="en-US"/>
          </a:p>
        </p:txBody>
      </p:sp>
      <p:pic>
        <p:nvPicPr>
          <p:cNvPr id="4" name="图片 3"/>
          <p:cNvPicPr>
            <a:picLocks noChangeAspect="1"/>
          </p:cNvPicPr>
          <p:nvPr/>
        </p:nvPicPr>
        <p:blipFill>
          <a:blip r:embed="rId1"/>
          <a:stretch>
            <a:fillRect/>
          </a:stretch>
        </p:blipFill>
        <p:spPr>
          <a:xfrm>
            <a:off x="6028055" y="548005"/>
            <a:ext cx="3425825" cy="4834255"/>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1718</Words>
  <Application>WPS 演示</Application>
  <PresentationFormat>宽屏</PresentationFormat>
  <Paragraphs>29</Paragraphs>
  <Slides>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vt:i4>
      </vt:variant>
    </vt:vector>
  </HeadingPairs>
  <TitlesOfParts>
    <vt:vector size="18" baseType="lpstr">
      <vt:lpstr>Arial</vt:lpstr>
      <vt:lpstr>宋体</vt:lpstr>
      <vt:lpstr>Wingdings</vt:lpstr>
      <vt:lpstr>Times New Roman</vt:lpstr>
      <vt:lpstr>CMSY7</vt:lpstr>
      <vt:lpstr>Segoe Print</vt:lpstr>
      <vt:lpstr>CMR7</vt:lpstr>
      <vt:lpstr>CMMI7</vt:lpstr>
      <vt:lpstr>微软雅黑</vt:lpstr>
      <vt:lpstr>Calibri</vt:lpstr>
      <vt:lpstr>Arial Unicode MS</vt:lpstr>
      <vt:lpstr>WPS</vt:lpstr>
      <vt:lpstr>向编码器输入该3D模型的两种独立表示</vt:lpstr>
      <vt:lpstr>PowerPoint 演示文稿</vt:lpstr>
      <vt:lpstr>PowerPoint 演示文稿</vt:lpstr>
      <vt:lpstr>编码器训练</vt:lpstr>
      <vt:lpstr>扩散模型</vt:lpstr>
      <vt:lpstr>图像空间中的引导</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老水</cp:lastModifiedBy>
  <cp:revision>6</cp:revision>
  <dcterms:created xsi:type="dcterms:W3CDTF">2023-08-09T12:44:00Z</dcterms:created>
  <dcterms:modified xsi:type="dcterms:W3CDTF">2025-12-11T12:55:11Z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9FEA38DFD3B046CBBB554FAC49F081B0_12</vt:lpwstr>
  </property>
</Properties>
</file>