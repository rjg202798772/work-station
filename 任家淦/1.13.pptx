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1" r:id="rId8"/>
    <p:sldId id="260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.xml"/><Relationship Id="rId8" Type="http://schemas.microsoft.com/office/2007/relationships/media" Target="../media/media2.mp4"/><Relationship Id="rId7" Type="http://schemas.openxmlformats.org/officeDocument/2006/relationships/video" Target="../media/media2.mp4"/><Relationship Id="rId6" Type="http://schemas.openxmlformats.org/officeDocument/2006/relationships/image" Target="../media/image11.png"/><Relationship Id="rId5" Type="http://schemas.openxmlformats.org/officeDocument/2006/relationships/tags" Target="../tags/tag1.xml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image" Target="../media/image10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1.13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梯度检查点机制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2740"/>
            <a:ext cx="5257800" cy="44919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1800"/>
              <a:t>def forward(ctx, run_function, length, *args):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ctx.run_function = run_function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ctx.input_tensors = list(args[:length])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ctx.input_params = list(args[length:])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</a:t>
            </a:r>
            <a:r>
              <a:rPr lang="en-US" altLang="zh-CN" sz="1800">
                <a:solidFill>
                  <a:srgbClr val="FF0000"/>
                </a:solidFill>
              </a:rPr>
              <a:t>with torch.no_grad():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    output_tensors = ctx.run_function(*ctx.input_tensors)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return output_tensors</a:t>
            </a:r>
            <a:endParaRPr lang="en-US" altLang="zh-CN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无梯度计算：使用</a:t>
            </a:r>
            <a:r>
              <a:rPr lang="en-US" altLang="zh-CN" sz="1800"/>
              <a:t> torch.no_grad() </a:t>
            </a:r>
            <a:r>
              <a:rPr lang="zh-CN" altLang="en-US" sz="1800"/>
              <a:t>禁用梯度计算，这样中间激活不会被保存，从而节省显存。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096000" y="365125"/>
            <a:ext cx="5744845" cy="6185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/>
              <a:t>def backward(ctx, *output_grads):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     ...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    output_tensors = ctx.run_function(*shallow_copies)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input_grads =</a:t>
            </a:r>
            <a:r>
              <a:rPr lang="en-US" altLang="zh-CN" sz="1800">
                <a:solidFill>
                  <a:srgbClr val="FF0000"/>
                </a:solidFill>
              </a:rPr>
              <a:t> torch.autograd.grad</a:t>
            </a:r>
            <a:r>
              <a:rPr lang="en-US" altLang="zh-CN" sz="1800"/>
              <a:t>(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    output_tensors,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    ctx.input_tensors + ctx.input_params,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    output_grads,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    allow_unused=True,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)</a:t>
            </a:r>
            <a:endParaRPr lang="en-US" altLang="zh-CN" sz="1800"/>
          </a:p>
          <a:p>
            <a:pPr marL="0" indent="457200">
              <a:buNone/>
            </a:pPr>
            <a:r>
              <a:rPr lang="en-US" altLang="zh-CN" sz="1800"/>
              <a:t>...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    return (None, None) + input_grads</a:t>
            </a:r>
            <a:br>
              <a:rPr lang="en-US" altLang="zh-CN" sz="1800"/>
            </a:b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重新计算前向传播：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使用</a:t>
            </a:r>
            <a:r>
              <a:rPr lang="en-US" altLang="zh-CN" sz="1800"/>
              <a:t> torch.enable_grad() </a:t>
            </a:r>
            <a:r>
              <a:rPr lang="zh-CN" altLang="en-US" sz="1800"/>
              <a:t>启用梯度计算。</a:t>
            </a:r>
            <a:endParaRPr lang="zh-CN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2400"/>
              <a:t>利用</a:t>
            </a:r>
            <a:r>
              <a:rPr lang="en-US" altLang="zh-CN" sz="2400"/>
              <a:t>blender</a:t>
            </a:r>
            <a:r>
              <a:rPr lang="zh-CN" altLang="en-US" sz="2400"/>
              <a:t>脚本将三维模型渲染</a:t>
            </a:r>
            <a:r>
              <a:rPr lang="en-US" altLang="zh-CN" sz="2400"/>
              <a:t>20</a:t>
            </a:r>
            <a:r>
              <a:rPr lang="zh-CN" altLang="en-US" sz="2400"/>
              <a:t>个角度</a:t>
            </a:r>
            <a:endParaRPr lang="zh-CN" altLang="en-US" sz="24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3005" y="1449705"/>
            <a:ext cx="5875020" cy="2759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490" y="3304540"/>
            <a:ext cx="7468235" cy="30810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00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455" y="207010"/>
            <a:ext cx="2477135" cy="2477135"/>
          </a:xfrm>
          <a:prstGeom prst="rect">
            <a:avLst/>
          </a:prstGeom>
        </p:spPr>
      </p:pic>
      <p:pic>
        <p:nvPicPr>
          <p:cNvPr id="5" name="图片 4" descr="00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70" y="207010"/>
            <a:ext cx="2456815" cy="2456815"/>
          </a:xfrm>
          <a:prstGeom prst="rect">
            <a:avLst/>
          </a:prstGeom>
        </p:spPr>
      </p:pic>
      <p:pic>
        <p:nvPicPr>
          <p:cNvPr id="6" name="图片 5" descr="000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165" y="207010"/>
            <a:ext cx="2435860" cy="24358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55" y="3149600"/>
            <a:ext cx="8582025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58265" y="4929505"/>
            <a:ext cx="6102350" cy="441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JSON </a:t>
            </a:r>
            <a:r>
              <a:rPr lang="zh-CN" altLang="en-US"/>
              <a:t>文件记录了单张渲染图对应的相机参数和场景信息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140" y="118110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CraftsMan3D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2740" y="1050925"/>
            <a:ext cx="8432800" cy="2656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" y="3707765"/>
            <a:ext cx="8599805" cy="30340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65540" y="1925955"/>
            <a:ext cx="3173730" cy="5480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粗网格生成：多视图引导的</a:t>
            </a:r>
            <a:r>
              <a:rPr lang="en-US" altLang="zh-CN"/>
              <a:t> 3D </a:t>
            </a:r>
            <a:r>
              <a:rPr lang="zh-CN" altLang="en-US"/>
              <a:t>扩散模型</a:t>
            </a:r>
            <a:endParaRPr lang="zh-CN" altLang="en-US"/>
          </a:p>
          <a:p>
            <a:r>
              <a:rPr lang="en-US" altLang="zh-CN"/>
              <a:t>3D </a:t>
            </a:r>
            <a:r>
              <a:rPr lang="zh-CN" altLang="en-US"/>
              <a:t>形状</a:t>
            </a:r>
            <a:r>
              <a:rPr lang="en-US" altLang="zh-CN"/>
              <a:t> VAE</a:t>
            </a:r>
            <a:r>
              <a:rPr lang="zh-CN" altLang="en-US"/>
              <a:t>：采用</a:t>
            </a:r>
            <a:r>
              <a:rPr lang="en-US" altLang="zh-CN"/>
              <a:t> Perceiver </a:t>
            </a:r>
            <a:r>
              <a:rPr lang="zh-CN" altLang="en-US"/>
              <a:t>架构的变分自编码器，将</a:t>
            </a:r>
            <a:r>
              <a:rPr lang="en-US" altLang="zh-CN"/>
              <a:t> 3D </a:t>
            </a:r>
            <a:r>
              <a:rPr lang="zh-CN" altLang="en-US"/>
              <a:t>表面点云及法向量编码为潜在向量集，解码输出截断符号距离函数场，确保稳定优化</a:t>
            </a:r>
            <a:endParaRPr lang="zh-CN" altLang="en-US"/>
          </a:p>
          <a:p>
            <a:r>
              <a:rPr lang="zh-CN" altLang="en-US"/>
              <a:t>多视图引导的</a:t>
            </a:r>
            <a:r>
              <a:rPr lang="en-US" altLang="zh-CN"/>
              <a:t> latent set </a:t>
            </a:r>
            <a:r>
              <a:rPr lang="zh-CN" altLang="en-US"/>
              <a:t>扩散模型：</a:t>
            </a:r>
            <a:endParaRPr lang="zh-CN" altLang="en-US"/>
          </a:p>
          <a:p>
            <a:r>
              <a:rPr lang="zh-CN" altLang="en-US"/>
              <a:t>基于</a:t>
            </a:r>
            <a:r>
              <a:rPr lang="en-US" altLang="zh-CN"/>
              <a:t>DiT</a:t>
            </a:r>
            <a:r>
              <a:rPr lang="zh-CN" altLang="en-US"/>
              <a:t>构建去噪网络，在潜在空间直接建模</a:t>
            </a:r>
            <a:r>
              <a:rPr lang="en-US" altLang="zh-CN"/>
              <a:t> 3D </a:t>
            </a:r>
            <a:r>
              <a:rPr lang="zh-CN" altLang="en-US"/>
              <a:t>数据分布生成粗网格，解决了单视图输入中未观测区域的生成。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CraftsMan3D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49320" y="1762760"/>
            <a:ext cx="2827020" cy="2359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770380"/>
            <a:ext cx="2473325" cy="2351405"/>
          </a:xfrm>
          <a:prstGeom prst="rect">
            <a:avLst/>
          </a:prstGeom>
        </p:spPr>
      </p:pic>
      <p:pic>
        <p:nvPicPr>
          <p:cNvPr id="6" name="屏幕录制 2026-01-13 143810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960235" y="365125"/>
            <a:ext cx="3940810" cy="2734945"/>
          </a:xfrm>
          <a:prstGeom prst="rect">
            <a:avLst/>
          </a:prstGeom>
        </p:spPr>
      </p:pic>
      <p:pic>
        <p:nvPicPr>
          <p:cNvPr id="8" name="屏幕录制 2026-01-13 144933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209790" y="3556635"/>
            <a:ext cx="3567430" cy="2698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3415" y="139065"/>
            <a:ext cx="10515600" cy="1325563"/>
          </a:xfrm>
        </p:spPr>
        <p:txBody>
          <a:bodyPr/>
          <a:p>
            <a:r>
              <a:rPr lang="en-US" altLang="zh-CN"/>
              <a:t>Hunyuan3D 2.5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9485" y="5263515"/>
            <a:ext cx="10272395" cy="1096010"/>
          </a:xfrm>
        </p:spPr>
        <p:txBody>
          <a:bodyPr/>
          <a:p>
            <a:pPr marL="0" indent="0">
              <a:buNone/>
            </a:pPr>
            <a:r>
              <a:rPr lang="zh-CN" altLang="en-US" sz="2400"/>
              <a:t>利用大规模高质量</a:t>
            </a:r>
            <a:r>
              <a:rPr lang="en-US" altLang="zh-CN" sz="2400"/>
              <a:t> 3D </a:t>
            </a:r>
            <a:r>
              <a:rPr lang="zh-CN" altLang="en-US" sz="2400"/>
              <a:t>数据集训练，通过扩大模型规模（</a:t>
            </a:r>
            <a:r>
              <a:rPr lang="en-US" altLang="zh-CN" sz="2400"/>
              <a:t>max 10B </a:t>
            </a:r>
            <a:r>
              <a:rPr lang="zh-CN" altLang="en-US" sz="2400"/>
              <a:t>），实现稳定性能提升，采用引导与步骤蒸馏技术优化推理效率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485" y="1191895"/>
            <a:ext cx="7588250" cy="401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trellis3d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70225" y="5775960"/>
            <a:ext cx="5505450" cy="606425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20</a:t>
            </a:r>
            <a:r>
              <a:rPr lang="zh-CN" altLang="en-US">
                <a:sym typeface="+mn-ea"/>
              </a:rPr>
              <a:t>亿</a:t>
            </a:r>
            <a:r>
              <a:rPr lang="zh-CN" altLang="en-US"/>
              <a:t>参数，配置要求</a:t>
            </a:r>
            <a:r>
              <a:rPr lang="en-US" altLang="zh-CN"/>
              <a:t>A100</a:t>
            </a:r>
            <a:r>
              <a:rPr lang="zh-CN" altLang="en-US"/>
              <a:t>及以上，没找到</a:t>
            </a:r>
            <a:r>
              <a:rPr lang="zh-CN" altLang="en-US"/>
              <a:t>论文</a:t>
            </a:r>
            <a:endParaRPr lang="zh-CN" altLang="en-US"/>
          </a:p>
        </p:txBody>
      </p:sp>
      <p:pic>
        <p:nvPicPr>
          <p:cNvPr id="4" name="20260113-0731-58.8218926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307080" y="1203960"/>
            <a:ext cx="5410200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</Words>
  <Application>WPS 演示</Application>
  <PresentationFormat>宽屏</PresentationFormat>
  <Paragraphs>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1.13</vt:lpstr>
      <vt:lpstr>梯度检查点机制</vt:lpstr>
      <vt:lpstr>利用blender脚本将三维模型渲染20个角度</vt:lpstr>
      <vt:lpstr>PowerPoint 演示文稿</vt:lpstr>
      <vt:lpstr>MraftsMan3D</vt:lpstr>
      <vt:lpstr>MraftsMan3D</vt:lpstr>
      <vt:lpstr>Hunyuan3D 2.5</vt:lpstr>
      <vt:lpstr>trellis3d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老水</cp:lastModifiedBy>
  <cp:revision>9</cp:revision>
  <dcterms:created xsi:type="dcterms:W3CDTF">2023-08-09T12:44:00Z</dcterms:created>
  <dcterms:modified xsi:type="dcterms:W3CDTF">2026-01-14T09:36:55Z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9A48A8E0960C40EBA7D291F46423C4FA_12</vt:lpwstr>
  </property>
</Properties>
</file>