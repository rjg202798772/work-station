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1.15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技术路线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/>
              <a:t>Transfomer+</a:t>
            </a:r>
            <a:r>
              <a:rPr lang="zh-CN" altLang="en-US"/>
              <a:t>扩散模型：</a:t>
            </a:r>
            <a:r>
              <a:rPr lang="en-US" altLang="zh-CN"/>
              <a:t>Point-e</a:t>
            </a:r>
            <a:r>
              <a:rPr lang="zh-CN" altLang="en-US"/>
              <a:t>、</a:t>
            </a:r>
            <a:r>
              <a:rPr lang="en-US" altLang="zh-CN"/>
              <a:t>shap-e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二阶段优化：</a:t>
            </a:r>
            <a:r>
              <a:rPr lang="en-US" altLang="zh-CN"/>
              <a:t>Magic3D</a:t>
            </a:r>
            <a:r>
              <a:rPr lang="zh-CN" altLang="en-US"/>
              <a:t>、</a:t>
            </a:r>
            <a:r>
              <a:rPr lang="en-US" altLang="zh-CN"/>
              <a:t>CraftsMan3D</a:t>
            </a:r>
            <a:r>
              <a:rPr lang="zh-CN" altLang="en-US"/>
              <a:t>、</a:t>
            </a:r>
            <a:r>
              <a:rPr lang="en-US" altLang="zh-CN"/>
              <a:t>Trellis3d 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Score Distillation Sampling -SDS</a:t>
            </a:r>
            <a:r>
              <a:rPr lang="zh-CN" altLang="en-US"/>
              <a:t>得分蒸馏技术：</a:t>
            </a:r>
            <a:r>
              <a:rPr lang="en-US" altLang="zh-CN"/>
              <a:t>DreamFusion</a:t>
            </a:r>
            <a:r>
              <a:rPr lang="zh-CN" altLang="en-US"/>
              <a:t>、</a:t>
            </a:r>
            <a:r>
              <a:rPr lang="en-US" altLang="zh-CN"/>
              <a:t>Magic3D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大型</a:t>
            </a:r>
            <a:r>
              <a:rPr lang="en-US" altLang="zh-CN"/>
              <a:t>Transformer</a:t>
            </a:r>
            <a:r>
              <a:rPr lang="zh-CN" altLang="en-US"/>
              <a:t>架构：</a:t>
            </a:r>
            <a:r>
              <a:rPr lang="en-US" altLang="zh-CN"/>
              <a:t>LRM</a:t>
            </a:r>
            <a:r>
              <a:rPr lang="zh-CN" altLang="en-US"/>
              <a:t>（</a:t>
            </a:r>
            <a:r>
              <a:rPr lang="en-US" altLang="zh-CN"/>
              <a:t>TripoSR</a:t>
            </a:r>
            <a:r>
              <a:rPr lang="zh-CN" altLang="en-US"/>
              <a:t>，</a:t>
            </a:r>
            <a:r>
              <a:rPr lang="en-US" altLang="zh-CN"/>
              <a:t>SF3D</a:t>
            </a:r>
            <a:r>
              <a:rPr lang="zh-CN" altLang="en-US"/>
              <a:t>）、</a:t>
            </a:r>
            <a:r>
              <a:rPr lang="en-US" altLang="zh-CN"/>
              <a:t>Hunyuan3D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VAE+Transfomer</a:t>
            </a:r>
            <a:r>
              <a:rPr lang="zh-CN" altLang="en-US"/>
              <a:t>：</a:t>
            </a:r>
            <a:r>
              <a:rPr lang="en-US" altLang="zh-CN"/>
              <a:t> Trellis3d 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765" y="2356485"/>
            <a:ext cx="7967980" cy="41979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04140" y="348615"/>
            <a:ext cx="8729980" cy="2106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zh-CN" b="1">
                <a:sym typeface="+mn-ea"/>
              </a:rPr>
              <a:t>LRM: LARGE RECONSTRUCTION MODEL FORSINGLE IMAGE TO 3D</a:t>
            </a:r>
            <a:endParaRPr lang="en-US" altLang="zh-CN" b="1"/>
          </a:p>
          <a:p>
            <a:pPr marL="0" indent="0">
              <a:buNone/>
            </a:pPr>
            <a:r>
              <a:rPr lang="en-US" altLang="zh-CN">
                <a:sym typeface="+mn-ea"/>
              </a:rPr>
              <a:t>LRM</a:t>
            </a:r>
            <a:r>
              <a:rPr lang="zh-CN" altLang="en-US">
                <a:sym typeface="+mn-ea"/>
              </a:rPr>
              <a:t>：用于单图像三维重建的大重建模型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ym typeface="+mn-ea"/>
              </a:rPr>
              <a:t>Github: https://github.com/3DTopia/OpenLRM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Paper: https://arxiv.org/pdf/2311.04400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Team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Adobe Research Australian National Univeristy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亿个参数，大规模</a:t>
            </a:r>
            <a:r>
              <a:rPr lang="en-US" altLang="zh-CN">
                <a:sym typeface="+mn-ea"/>
              </a:rPr>
              <a:t>3D</a:t>
            </a:r>
            <a:r>
              <a:rPr lang="zh-CN" altLang="en-US">
                <a:sym typeface="+mn-ea"/>
              </a:rPr>
              <a:t>重建模型的开山鼻祖，大型</a:t>
            </a:r>
            <a:r>
              <a:rPr lang="en-US" altLang="zh-CN">
                <a:sym typeface="+mn-ea"/>
              </a:rPr>
              <a:t>Transformer</a:t>
            </a:r>
            <a:r>
              <a:rPr lang="zh-CN" altLang="en-US">
                <a:sym typeface="+mn-ea"/>
              </a:rPr>
              <a:t>架构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3355" y="2660650"/>
            <a:ext cx="7667625" cy="30384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8630" y="247015"/>
            <a:ext cx="9007475" cy="2872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zh-CN" sz="1700" b="1">
                <a:sym typeface="+mn-ea"/>
              </a:rPr>
              <a:t>SF3D: Stable Fast 3D Mesh Reconstruction with UV-unwrapping and Illumination </a:t>
            </a:r>
            <a:r>
              <a:rPr lang="en-US" altLang="zh-CN" sz="1700">
                <a:sym typeface="+mn-ea"/>
              </a:rPr>
              <a:t>Disentanglement</a:t>
            </a:r>
            <a:endParaRPr lang="en-US" altLang="zh-CN" sz="1700"/>
          </a:p>
          <a:p>
            <a:pPr marL="0" indent="0">
              <a:buNone/>
            </a:pPr>
            <a:r>
              <a:rPr lang="en-US" altLang="zh-CN" sz="1700">
                <a:sym typeface="+mn-ea"/>
              </a:rPr>
              <a:t>SF3D</a:t>
            </a:r>
            <a:r>
              <a:rPr lang="zh-CN" altLang="en-US" sz="1700">
                <a:sym typeface="+mn-ea"/>
              </a:rPr>
              <a:t>：基于</a:t>
            </a:r>
            <a:r>
              <a:rPr lang="en-US" altLang="zh-CN" sz="1700">
                <a:sym typeface="+mn-ea"/>
              </a:rPr>
              <a:t> UV </a:t>
            </a:r>
            <a:r>
              <a:rPr lang="zh-CN" altLang="en-US" sz="1700">
                <a:sym typeface="+mn-ea"/>
              </a:rPr>
              <a:t>展开和光照解缠的稳定快速三维网格重建模型</a:t>
            </a:r>
            <a:endParaRPr lang="zh-CN" altLang="en-US" sz="1700"/>
          </a:p>
          <a:p>
            <a:pPr marL="0" indent="0">
              <a:buNone/>
            </a:pPr>
            <a:r>
              <a:rPr lang="en-US" altLang="zh-CN" sz="1700">
                <a:sym typeface="+mn-ea"/>
              </a:rPr>
              <a:t>Github: https://github.com/Stability-AI/stable-fast-3d</a:t>
            </a:r>
            <a:endParaRPr lang="en-US" altLang="zh-CN" sz="1700"/>
          </a:p>
          <a:p>
            <a:pPr marL="0" indent="0">
              <a:buNone/>
            </a:pPr>
            <a:r>
              <a:rPr lang="en-US" altLang="zh-CN" sz="1700">
                <a:sym typeface="+mn-ea"/>
              </a:rPr>
              <a:t>Paper: https://arxiv.org/pdf/2403.02151v1</a:t>
            </a:r>
            <a:r>
              <a:rPr lang="zh-CN" altLang="en-US" sz="1700">
                <a:sym typeface="+mn-ea"/>
              </a:rPr>
              <a:t>（</a:t>
            </a:r>
            <a:r>
              <a:rPr lang="en-US" altLang="zh-CN" sz="1700">
                <a:sym typeface="+mn-ea"/>
              </a:rPr>
              <a:t>CVPR 2025 </a:t>
            </a:r>
            <a:r>
              <a:rPr lang="zh-CN" altLang="en-US" sz="1700">
                <a:sym typeface="+mn-ea"/>
              </a:rPr>
              <a:t>收录）</a:t>
            </a:r>
            <a:endParaRPr lang="zh-CN" altLang="en-US" sz="1700"/>
          </a:p>
          <a:p>
            <a:pPr marL="0" indent="0">
              <a:buNone/>
            </a:pPr>
            <a:r>
              <a:rPr lang="en-US" altLang="zh-CN" sz="1700">
                <a:sym typeface="+mn-ea"/>
              </a:rPr>
              <a:t>Team</a:t>
            </a:r>
            <a:r>
              <a:rPr lang="zh-CN" altLang="en-US" sz="1700">
                <a:sym typeface="+mn-ea"/>
              </a:rPr>
              <a:t>：</a:t>
            </a:r>
            <a:r>
              <a:rPr lang="en-US" altLang="zh-CN" sz="1700">
                <a:solidFill>
                  <a:srgbClr val="FF0000"/>
                </a:solidFill>
                <a:sym typeface="+mn-ea"/>
              </a:rPr>
              <a:t>Stability AI</a:t>
            </a:r>
            <a:r>
              <a:rPr lang="zh-CN" altLang="en-US" sz="1700">
                <a:sym typeface="+mn-ea"/>
              </a:rPr>
              <a:t>、</a:t>
            </a:r>
            <a:r>
              <a:rPr lang="en-US" altLang="zh-CN" sz="1700">
                <a:sym typeface="+mn-ea"/>
              </a:rPr>
              <a:t>UIUC</a:t>
            </a:r>
            <a:endParaRPr lang="en-US" altLang="zh-CN" sz="1700"/>
          </a:p>
          <a:p>
            <a:pPr marL="0" indent="0">
              <a:buNone/>
            </a:pPr>
            <a:r>
              <a:rPr lang="en-US" altLang="zh-CN" sz="1700">
                <a:sym typeface="+mn-ea"/>
              </a:rPr>
              <a:t>0.3 </a:t>
            </a:r>
            <a:r>
              <a:rPr lang="zh-CN" altLang="en-US" sz="1700">
                <a:sym typeface="+mn-ea"/>
              </a:rPr>
              <a:t>秒极速重建，五大增强模块优化，支持材质</a:t>
            </a:r>
            <a:r>
              <a:rPr lang="en-US" altLang="zh-CN" sz="1700">
                <a:sym typeface="+mn-ea"/>
              </a:rPr>
              <a:t> / </a:t>
            </a:r>
            <a:r>
              <a:rPr lang="zh-CN" altLang="en-US" sz="1700">
                <a:sym typeface="+mn-ea"/>
              </a:rPr>
              <a:t>法线贴图与光照解缠，</a:t>
            </a:r>
            <a:r>
              <a:rPr lang="en-US" altLang="zh-CN" sz="1700">
                <a:sym typeface="+mn-ea"/>
              </a:rPr>
              <a:t>SOTA </a:t>
            </a:r>
            <a:r>
              <a:rPr lang="zh-CN" altLang="en-US" sz="1700">
                <a:sym typeface="+mn-ea"/>
              </a:rPr>
              <a:t>级几何精度与纹理质量</a:t>
            </a:r>
            <a:endParaRPr lang="zh-CN" altLang="en-US" sz="17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460" y="3027045"/>
            <a:ext cx="4697095" cy="26720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45160" y="594360"/>
            <a:ext cx="8547100" cy="244602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latin typeface="等线" panose="02010600030101010101" charset="-122"/>
                <a:ea typeface="等线" panose="02010600030101010101" charset="-122"/>
              </a:rPr>
              <a:t>DreamFusion: TEXT-TO-3D USING 2D DIFFUSION</a:t>
            </a:r>
            <a:endParaRPr lang="en-US" altLang="zh-CN" sz="1700" b="1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DreamFusion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：基于二维扩散的文本到三维生成模型</a:t>
            </a:r>
            <a:endParaRPr lang="zh-CN" altLang="en-US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Github: https://dreamfusion3d.github.io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Paper: https://arxiv.org/pdf/2209.14988v1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Team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</a:t>
            </a:r>
            <a:r>
              <a:rPr lang="en-US" altLang="zh-CN" sz="17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Google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 Research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、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UC Berkeley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Score Distillation Sampling 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核心技术，无需三维训练数据，基于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NeRF 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实现文本驱动三维生成</a:t>
            </a:r>
            <a:endParaRPr lang="zh-CN" altLang="en-US" sz="17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475" y="2895600"/>
            <a:ext cx="8718550" cy="31997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52475" y="507365"/>
            <a:ext cx="8274685" cy="176784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latin typeface="等线" panose="02010600030101010101" charset="-122"/>
                <a:ea typeface="等线" panose="02010600030101010101" charset="-122"/>
              </a:rPr>
              <a:t>Magic3D: High-Resolution Text-to-3D Content Creation</a:t>
            </a:r>
            <a:endParaRPr lang="en-US" altLang="zh-CN" sz="1700" b="1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Magic3D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：高分辨率文本到三维内容生成模型</a:t>
            </a:r>
            <a:endParaRPr lang="zh-CN" altLang="en-US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Github:https://github.com/magic3dcn/magic3d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Paper: https://arxiv.org/pdf/2211.10440v2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Team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NVIDIA Corporation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两阶段粗到精优化，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2 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倍速于 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DreamFusion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，支持 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512×512 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高分辨率监督</a:t>
            </a:r>
            <a:endParaRPr lang="zh-CN" altLang="en-US" sz="17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305" y="2676525"/>
            <a:ext cx="9723755" cy="277685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1505" y="554355"/>
            <a:ext cx="9883140" cy="337629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等线" panose="02010600030101010101" charset="-122"/>
                <a:ea typeface="等线" panose="02010600030101010101" charset="-122"/>
              </a:rPr>
              <a:t>Point-E: A System for Generating 3D Point Clouds from Complex Prompts</a:t>
            </a:r>
            <a:endParaRPr lang="en-US" altLang="zh-CN" sz="1600" b="1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Point-E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：基于复杂提示生成三维点云的系统</a:t>
            </a:r>
            <a:endParaRPr lang="zh-CN" altLang="en-US" sz="16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Github: https://github.com/openai/point-e</a:t>
            </a:r>
            <a:endParaRPr lang="en-US" altLang="zh-CN" sz="16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Paper: https://arxiv.org/pdf/2212.08751v1</a:t>
            </a:r>
            <a:endParaRPr lang="en-US" altLang="zh-CN" sz="16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Team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：</a:t>
            </a:r>
            <a:r>
              <a:rPr lang="en-US" altLang="zh-CN" sz="16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OpenAI</a:t>
            </a:r>
            <a:endParaRPr lang="en-US" altLang="zh-CN" sz="160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两阶段生成流程（文本到图像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→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图像到点云），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1-2 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分钟生成，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Transformer 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架构，支持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RGB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彩色点云输出</a:t>
            </a:r>
            <a:endParaRPr lang="zh-CN" altLang="en-US" sz="16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3040380"/>
            <a:ext cx="4843780" cy="3054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245" y="2602865"/>
            <a:ext cx="5815965" cy="36436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74700" y="728980"/>
            <a:ext cx="10337165" cy="207645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latin typeface="等线" panose="02010600030101010101" charset="-122"/>
                <a:ea typeface="等线" panose="02010600030101010101" charset="-122"/>
              </a:rPr>
              <a:t>Shap-E: Generating Conditional 3D Implicit Functions</a:t>
            </a:r>
            <a:endParaRPr lang="en-US" altLang="zh-CN" sz="1700" b="1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Shap-E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：生成条件性三维隐式函数的模型</a:t>
            </a:r>
            <a:endParaRPr lang="zh-CN" altLang="en-US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Github: https://github.com/openai/shap-e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Paper: https://arxiv.org/pdf/2305.02463v1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Team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</a:t>
            </a:r>
            <a:r>
              <a:rPr lang="en-US" altLang="zh-CN" sz="17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OpenAI</a:t>
            </a:r>
            <a:endParaRPr lang="en-US" altLang="zh-CN" sz="170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编码器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+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扩散模型，支持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NeRF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与纹理网格双输出，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13 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秒快速生成，性能优于 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Point-E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3485" y="3011805"/>
            <a:ext cx="5558790" cy="31140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0" y="2400935"/>
            <a:ext cx="5433695" cy="43357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28040" y="647065"/>
            <a:ext cx="9382125" cy="286829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latin typeface="等线" panose="02010600030101010101" charset="-122"/>
                <a:ea typeface="等线" panose="02010600030101010101" charset="-122"/>
              </a:rPr>
              <a:t>Hunyuan3D 2.5: Towards High-Fidelity 3D Assets Generation with Ultimate Details</a:t>
            </a:r>
            <a:endParaRPr lang="en-US" altLang="zh-CN" sz="1700" b="1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Hunyuan3D 2.5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：面向超高保真细节的三维资产生成模型</a:t>
            </a:r>
            <a:endParaRPr lang="zh-CN" altLang="en-US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Github: https://github.com/Tencent/Hunyuan3D-2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Paper: https://arxiv.org/pdf/2506.16504v1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Team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</a:t>
            </a:r>
            <a:r>
              <a:rPr lang="en-US" altLang="zh-CN" sz="17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Tencent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 Hunyuan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100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亿参数超大模型，双阶段生成流程（形状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+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纹理），形状细节与表面平滑度领先 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SOTA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555" y="2882265"/>
            <a:ext cx="6181725" cy="3043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280" y="2882265"/>
            <a:ext cx="5650865" cy="28295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17880" y="496570"/>
            <a:ext cx="8698230" cy="273494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latin typeface="等线" panose="02010600030101010101" charset="-122"/>
                <a:ea typeface="等线" panose="02010600030101010101" charset="-122"/>
              </a:rPr>
              <a:t>TRELLIS: Structured 3D Latents for Scalable and Versatile 3D Generation</a:t>
            </a:r>
            <a:endParaRPr lang="en-US" altLang="zh-CN" sz="1700" b="1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TRELLIS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：面向可扩展多功能三维生成的结构化三维 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latent 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模型</a:t>
            </a:r>
            <a:endParaRPr lang="zh-CN" altLang="en-US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Github: https://github.com/Microsoft/TRELLIS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Paper: https://arxiv.org/pdf/2412.01506v3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Team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</a:t>
            </a:r>
            <a:r>
              <a:rPr lang="en-US" altLang="zh-CN" sz="170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Microsoft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 Research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、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Tsinghua University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、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USTC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20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亿参数大型模型，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SLAT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结构化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latent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表示，支持多格式输出（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3D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高斯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辐射场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网格），兼具高质量生成与灵活编辑能力</a:t>
            </a:r>
            <a:endParaRPr lang="zh-CN" altLang="en-US" sz="17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9720" y="3166745"/>
            <a:ext cx="5360670" cy="30346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25" y="3231515"/>
            <a:ext cx="6278245" cy="2705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56895" y="266065"/>
            <a:ext cx="10132060" cy="289306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latin typeface="等线" panose="02010600030101010101" charset="-122"/>
                <a:ea typeface="等线" panose="02010600030101010101" charset="-122"/>
              </a:rPr>
              <a:t>CraftsMan3D: High-fidelity Mesh Generation with 3D Native Diffusion and Interactive Geometry Refiner</a:t>
            </a:r>
            <a:endParaRPr lang="en-US" altLang="zh-CN" sz="1700" b="1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CraftsMan3D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：基于三维原生扩散与交互式几何细化器的高保真网格生成模型</a:t>
            </a:r>
            <a:endParaRPr lang="zh-CN" altLang="en-US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Github: https://github.com/HKUST-SAIL/CraftsMan3D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Paper: https://craftsman3d.github.io/paper/paper.pdf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Team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：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HKUST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、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LightIllusions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、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Adobe Research</a:t>
            </a:r>
            <a:endParaRPr lang="en-US" altLang="zh-CN" sz="1700"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5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亿参数大型模型，双阶段生成流程（粗网格</a:t>
            </a:r>
            <a:r>
              <a:rPr lang="en-US" altLang="zh-CN" sz="1700">
                <a:latin typeface="等线" panose="02010600030101010101" charset="-122"/>
                <a:ea typeface="等线" panose="02010600030101010101" charset="-122"/>
              </a:rPr>
              <a:t>+</a:t>
            </a:r>
            <a:r>
              <a:rPr lang="zh-CN" altLang="en-US" sz="1700">
                <a:latin typeface="等线" panose="02010600030101010101" charset="-122"/>
                <a:ea typeface="等线" panose="02010600030101010101" charset="-122"/>
              </a:rPr>
              <a:t>细节细化），支持交互式编辑，高效生成高保真三维网格</a:t>
            </a:r>
            <a:endParaRPr lang="zh-CN" altLang="en-US" sz="17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25" y="2192020"/>
            <a:ext cx="6534150" cy="428117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2550</Words>
  <Application>WPS 演示</Application>
  <PresentationFormat>宽屏</PresentationFormat>
  <Paragraphs>77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等线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老水</cp:lastModifiedBy>
  <cp:revision>157</cp:revision>
  <dcterms:created xsi:type="dcterms:W3CDTF">2019-06-19T02:08:00Z</dcterms:created>
  <dcterms:modified xsi:type="dcterms:W3CDTF">2026-01-14T11:13:11Z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4389AB5EBE8845AEBA7045928A08FB75_11</vt:lpwstr>
  </property>
</Properties>
</file>