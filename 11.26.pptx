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5" r:id="rId4"/>
    <p:sldId id="266" r:id="rId5"/>
    <p:sldId id="267" r:id="rId6"/>
    <p:sldId id="268" r:id="rId7"/>
    <p:sldId id="269" r:id="rId8"/>
    <p:sldId id="270" r:id="rId9"/>
    <p:sldId id="271" r:id="rId10"/>
    <p:sldId id="273" r:id="rId11"/>
    <p:sldId id="272" r:id="rId12"/>
    <p:sldId id="257" r:id="rId13"/>
    <p:sldId id="258" r:id="rId14"/>
    <p:sldId id="260" r:id="rId15"/>
    <p:sldId id="261" r:id="rId16"/>
    <p:sldId id="262" r:id="rId17"/>
    <p:sldId id="263" r:id="rId18"/>
    <p:sldId id="264"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6.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6.png"/><Relationship Id="rId2" Type="http://schemas.openxmlformats.org/officeDocument/2006/relationships/tags" Target="../tags/tag76.xml"/><Relationship Id="rId1" Type="http://schemas.openxmlformats.org/officeDocument/2006/relationships/tags" Target="../tags/tag7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tags" Target="../tags/tag78.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tags" Target="../tags/tag80.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en-US"/>
              <a:t>工作</a:t>
            </a:r>
            <a:endParaRPr lang="en-US" altLang="zh-CN"/>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Shap-E</a:t>
            </a:r>
            <a:r>
              <a:rPr lang="zh-CN" altLang="en-US"/>
              <a:t>文本生成</a:t>
            </a:r>
            <a:r>
              <a:rPr lang="en-US" altLang="zh-CN"/>
              <a:t>mesh</a:t>
            </a:r>
            <a:r>
              <a:rPr lang="zh-CN" altLang="en-US"/>
              <a:t>效果</a:t>
            </a:r>
            <a:endParaRPr lang="zh-CN" altLang="en-US"/>
          </a:p>
        </p:txBody>
      </p:sp>
      <p:pic>
        <p:nvPicPr>
          <p:cNvPr id="4" name="图片 3" descr="微信图片_20251125163012_72_94"/>
          <p:cNvPicPr>
            <a:picLocks noChangeAspect="1"/>
          </p:cNvPicPr>
          <p:nvPr/>
        </p:nvPicPr>
        <p:blipFill>
          <a:blip r:embed="rId2"/>
          <a:stretch>
            <a:fillRect/>
          </a:stretch>
        </p:blipFill>
        <p:spPr>
          <a:xfrm>
            <a:off x="1095375" y="1210310"/>
            <a:ext cx="1335405" cy="4438650"/>
          </a:xfrm>
          <a:prstGeom prst="rect">
            <a:avLst/>
          </a:prstGeom>
        </p:spPr>
      </p:pic>
      <p:pic>
        <p:nvPicPr>
          <p:cNvPr id="5" name="图片 4" descr="微信图片_20251125163448_73_94"/>
          <p:cNvPicPr>
            <a:picLocks noChangeAspect="1"/>
          </p:cNvPicPr>
          <p:nvPr/>
        </p:nvPicPr>
        <p:blipFill>
          <a:blip r:embed="rId3"/>
          <a:stretch>
            <a:fillRect/>
          </a:stretch>
        </p:blipFill>
        <p:spPr>
          <a:xfrm>
            <a:off x="2844800" y="1210310"/>
            <a:ext cx="1234440" cy="4485005"/>
          </a:xfrm>
          <a:prstGeom prst="rect">
            <a:avLst/>
          </a:prstGeom>
        </p:spPr>
      </p:pic>
      <p:pic>
        <p:nvPicPr>
          <p:cNvPr id="6" name="图片 5" descr="微信图片_20251125164042_74_94"/>
          <p:cNvPicPr>
            <a:picLocks noChangeAspect="1"/>
          </p:cNvPicPr>
          <p:nvPr/>
        </p:nvPicPr>
        <p:blipFill>
          <a:blip r:embed="rId4"/>
          <a:stretch>
            <a:fillRect/>
          </a:stretch>
        </p:blipFill>
        <p:spPr>
          <a:xfrm>
            <a:off x="4331335" y="1142365"/>
            <a:ext cx="1459230" cy="4506595"/>
          </a:xfrm>
          <a:prstGeom prst="rect">
            <a:avLst/>
          </a:prstGeom>
        </p:spPr>
      </p:pic>
      <p:sp>
        <p:nvSpPr>
          <p:cNvPr id="7" name="文本框 6"/>
          <p:cNvSpPr txBox="1"/>
          <p:nvPr/>
        </p:nvSpPr>
        <p:spPr>
          <a:xfrm>
            <a:off x="6232525" y="2697480"/>
            <a:ext cx="5113020" cy="1395730"/>
          </a:xfrm>
          <a:prstGeom prst="rect">
            <a:avLst/>
          </a:prstGeom>
          <a:noFill/>
        </p:spPr>
        <p:txBody>
          <a:bodyPr wrap="square" rtlCol="0">
            <a:noAutofit/>
          </a:bodyPr>
          <a:p>
            <a:r>
              <a:rPr lang="zh-CN" altLang="en-US"/>
              <a:t>对应文本分别是：</a:t>
            </a:r>
            <a:r>
              <a:rPr lang="en-US" altLang="zh-CN"/>
              <a:t>a goose,</a:t>
            </a:r>
            <a:endParaRPr lang="en-US" altLang="zh-CN"/>
          </a:p>
          <a:p>
            <a:r>
              <a:rPr lang="en-US" altLang="zh-CN"/>
              <a:t>an apple, a person riding a horse</a:t>
            </a:r>
            <a:endParaRPr lang="en-US" altLang="zh-CN"/>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Shap-E</a:t>
            </a:r>
            <a:r>
              <a:rPr lang="zh-CN" altLang="en-US"/>
              <a:t>单图生成</a:t>
            </a:r>
            <a:r>
              <a:rPr lang="en-US" altLang="zh-CN"/>
              <a:t>mesh</a:t>
            </a:r>
            <a:r>
              <a:rPr lang="zh-CN" altLang="en-US"/>
              <a:t>效果</a:t>
            </a:r>
            <a:endParaRPr lang="zh-CN" altLang="en-US"/>
          </a:p>
        </p:txBody>
      </p:sp>
      <p:pic>
        <p:nvPicPr>
          <p:cNvPr id="4" name="图片 3" descr="微信图片_20251125164943_75_94"/>
          <p:cNvPicPr>
            <a:picLocks noChangeAspect="1"/>
          </p:cNvPicPr>
          <p:nvPr/>
        </p:nvPicPr>
        <p:blipFill>
          <a:blip r:embed="rId2"/>
          <a:stretch>
            <a:fillRect/>
          </a:stretch>
        </p:blipFill>
        <p:spPr>
          <a:xfrm>
            <a:off x="7574280" y="793115"/>
            <a:ext cx="1378585" cy="5412105"/>
          </a:xfrm>
          <a:prstGeom prst="rect">
            <a:avLst/>
          </a:prstGeom>
        </p:spPr>
      </p:pic>
      <p:pic>
        <p:nvPicPr>
          <p:cNvPr id="5" name="图片 4" descr="微信图片_20251125164959_76_94"/>
          <p:cNvPicPr>
            <a:picLocks noChangeAspect="1"/>
          </p:cNvPicPr>
          <p:nvPr/>
        </p:nvPicPr>
        <p:blipFill>
          <a:blip r:embed="rId3"/>
          <a:stretch>
            <a:fillRect/>
          </a:stretch>
        </p:blipFill>
        <p:spPr>
          <a:xfrm>
            <a:off x="2762885" y="2280920"/>
            <a:ext cx="3076575" cy="3076575"/>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Shap-E</a:t>
            </a:r>
            <a:r>
              <a:rPr lang="zh-CN" altLang="en-US"/>
              <a:t>大致步骤</a:t>
            </a:r>
            <a:endParaRPr lang="zh-CN" altLang="en-US"/>
          </a:p>
        </p:txBody>
      </p:sp>
      <p:sp>
        <p:nvSpPr>
          <p:cNvPr id="3" name="内容占位符 2"/>
          <p:cNvSpPr>
            <a:spLocks noGrp="1"/>
          </p:cNvSpPr>
          <p:nvPr>
            <p:ph idx="1"/>
            <p:custDataLst>
              <p:tags r:id="rId2"/>
            </p:custDataLst>
          </p:nvPr>
        </p:nvSpPr>
        <p:spPr/>
        <p:txBody>
          <a:bodyPr/>
          <a:p>
            <a:pPr marL="0" indent="0">
              <a:buNone/>
            </a:pPr>
            <a:r>
              <a:rPr lang="zh-CN" altLang="en-US"/>
              <a:t>在本方法中，首先训练一个编码器以生成隐式表征，随后在编码器生成的潜在表征上</a:t>
            </a:r>
            <a:endParaRPr lang="zh-CN" altLang="en-US"/>
          </a:p>
          <a:p>
            <a:pPr marL="0" indent="0">
              <a:buNone/>
            </a:pPr>
            <a:r>
              <a:rPr lang="zh-CN" altLang="en-US"/>
              <a:t>训练扩散模型。该方法分为两个步骤：</a:t>
            </a:r>
            <a:endParaRPr lang="zh-CN" altLang="en-US"/>
          </a:p>
          <a:p>
            <a:pPr marL="0" indent="0">
              <a:buNone/>
            </a:pPr>
            <a:r>
              <a:rPr lang="en-US" altLang="zh-CN"/>
              <a:t>1.</a:t>
            </a:r>
            <a:r>
              <a:rPr lang="zh-CN" altLang="en-US"/>
              <a:t>训练一个编码器，通过已知的三维资产密集显式表示生成隐函数参数。具体而言，</a:t>
            </a:r>
            <a:endParaRPr lang="zh-CN" altLang="en-US"/>
          </a:p>
          <a:p>
            <a:pPr marL="0" indent="0">
              <a:buNone/>
            </a:pPr>
            <a:r>
              <a:rPr lang="zh-CN" altLang="en-US"/>
              <a:t>该编码器首先生成三维资产的潜在表示，随后通过线性投影获取多层感知器（</a:t>
            </a:r>
            <a:r>
              <a:rPr lang="en-US" altLang="zh-CN"/>
              <a:t>MLP</a:t>
            </a:r>
            <a:r>
              <a:rPr lang="zh-CN" altLang="en-US"/>
              <a:t>）</a:t>
            </a:r>
            <a:endParaRPr lang="zh-CN" altLang="en-US"/>
          </a:p>
          <a:p>
            <a:pPr marL="0" indent="0">
              <a:buNone/>
            </a:pPr>
            <a:r>
              <a:rPr lang="zh-CN" altLang="en-US"/>
              <a:t>的权重参数。</a:t>
            </a:r>
            <a:endParaRPr lang="zh-CN" altLang="en-US"/>
          </a:p>
          <a:p>
            <a:pPr marL="0" indent="0">
              <a:buNone/>
            </a:pPr>
            <a:r>
              <a:rPr lang="en-US" altLang="zh-CN"/>
              <a:t>2.</a:t>
            </a:r>
            <a:r>
              <a:rPr lang="zh-CN" altLang="en-US"/>
              <a:t>通过将编码器应用于数据集所获得的潜在变量数据集，训练扩散先验模型。该模型</a:t>
            </a:r>
            <a:endParaRPr lang="zh-CN" altLang="en-US"/>
          </a:p>
          <a:p>
            <a:pPr marL="0" indent="0">
              <a:buNone/>
            </a:pPr>
            <a:r>
              <a:rPr lang="zh-CN" altLang="en-US"/>
              <a:t>可基于图像或文本描述进行条件化处理。</a:t>
            </a:r>
            <a:endParaRPr lang="zh-CN"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Shap-E</a:t>
            </a:r>
            <a:r>
              <a:rPr lang="zh-CN" altLang="en-US"/>
              <a:t>数据集</a:t>
            </a:r>
            <a:endParaRPr lang="zh-CN" altLang="en-US"/>
          </a:p>
        </p:txBody>
      </p:sp>
      <p:sp>
        <p:nvSpPr>
          <p:cNvPr id="3" name="内容占位符 2"/>
          <p:cNvSpPr>
            <a:spLocks noGrp="1"/>
          </p:cNvSpPr>
          <p:nvPr>
            <p:ph idx="1"/>
            <p:custDataLst>
              <p:tags r:id="rId2"/>
            </p:custDataLst>
          </p:nvPr>
        </p:nvSpPr>
        <p:spPr/>
        <p:txBody>
          <a:bodyPr>
            <a:normAutofit lnSpcReduction="10000"/>
          </a:bodyPr>
          <a:p>
            <a:pPr marL="0" indent="0">
              <a:buNone/>
            </a:pPr>
            <a:r>
              <a:rPr lang="zh-CN" altLang="en-US"/>
              <a:t>使用了与</a:t>
            </a:r>
            <a:r>
              <a:rPr lang="en-US" altLang="zh-CN"/>
              <a:t>point-e</a:t>
            </a:r>
            <a:r>
              <a:rPr lang="zh-CN" altLang="en-US"/>
              <a:t>相同的基础</a:t>
            </a:r>
            <a:r>
              <a:rPr lang="en-US" altLang="zh-CN"/>
              <a:t>3D</a:t>
            </a:r>
            <a:r>
              <a:rPr lang="zh-CN" altLang="en-US"/>
              <a:t>资产数据集（</a:t>
            </a:r>
            <a:r>
              <a:rPr lang="en-US" altLang="zh-CN"/>
              <a:t>point-e</a:t>
            </a:r>
            <a:r>
              <a:rPr lang="zh-CN" altLang="en-US"/>
              <a:t>采用数百万个</a:t>
            </a:r>
            <a:r>
              <a:rPr lang="en-US" altLang="zh-CN"/>
              <a:t>3D</a:t>
            </a:r>
            <a:r>
              <a:rPr lang="zh-CN" altLang="en-US"/>
              <a:t>模型，使用支持多种</a:t>
            </a:r>
            <a:r>
              <a:rPr lang="en-US" altLang="zh-CN"/>
              <a:t>3D</a:t>
            </a:r>
            <a:r>
              <a:rPr lang="zh-CN" altLang="en-US"/>
              <a:t>格式且配备优化渲染引擎的</a:t>
            </a:r>
            <a:r>
              <a:rPr lang="en-US" altLang="zh-CN"/>
              <a:t>Blender</a:t>
            </a:r>
            <a:r>
              <a:rPr lang="zh-CN" altLang="en-US"/>
              <a:t>从</a:t>
            </a:r>
            <a:r>
              <a:rPr lang="en-US" altLang="zh-CN"/>
              <a:t>20</a:t>
            </a:r>
            <a:r>
              <a:rPr lang="zh-CN" altLang="en-US"/>
              <a:t>个随机摄像机角度将每个</a:t>
            </a:r>
            <a:r>
              <a:rPr lang="en-US" altLang="zh-CN"/>
              <a:t>3D</a:t>
            </a:r>
            <a:r>
              <a:rPr lang="zh-CN" altLang="en-US"/>
              <a:t>模型渲染为</a:t>
            </a:r>
            <a:r>
              <a:rPr lang="en-US" altLang="zh-CN"/>
              <a:t> RGBAD </a:t>
            </a:r>
            <a:r>
              <a:rPr lang="zh-CN" altLang="en-US"/>
              <a:t>图像）</a:t>
            </a:r>
            <a:endParaRPr lang="zh-CN" altLang="en-US"/>
          </a:p>
          <a:p>
            <a:pPr marL="0" indent="0">
              <a:buNone/>
            </a:pPr>
            <a:br>
              <a:rPr lang="zh-CN" altLang="en-US"/>
            </a:br>
            <a:r>
              <a:rPr lang="zh-CN" altLang="en-US"/>
              <a:t>对原始后处理方法进行了如下轻微扩展：</a:t>
            </a:r>
            <a:endParaRPr lang="zh-CN" altLang="en-US"/>
          </a:p>
          <a:p>
            <a:pPr marL="0" indent="0">
              <a:buNone/>
            </a:pPr>
            <a:r>
              <a:rPr lang="en-US" altLang="zh-CN"/>
              <a:t>• </a:t>
            </a:r>
            <a:r>
              <a:rPr lang="zh-CN" altLang="en-US"/>
              <a:t>在计算点云时，为每个物体渲染了</a:t>
            </a:r>
            <a:r>
              <a:rPr lang="en-US" altLang="zh-CN"/>
              <a:t>60</a:t>
            </a:r>
            <a:r>
              <a:rPr lang="zh-CN" altLang="en-US"/>
              <a:t>个视图而非</a:t>
            </a:r>
            <a:r>
              <a:rPr lang="en-US" altLang="zh-CN"/>
              <a:t>20</a:t>
            </a:r>
            <a:r>
              <a:rPr lang="zh-CN" altLang="en-US"/>
              <a:t>个。</a:t>
            </a:r>
            <a:r>
              <a:rPr lang="zh-CN" altLang="en-US"/>
              <a:t>他们发现仅使用</a:t>
            </a:r>
            <a:r>
              <a:rPr lang="en-US" altLang="zh-CN"/>
              <a:t>20</a:t>
            </a:r>
            <a:r>
              <a:rPr lang="zh-CN" altLang="en-US"/>
              <a:t>个视</a:t>
            </a:r>
            <a:endParaRPr lang="zh-CN" altLang="en-US"/>
          </a:p>
          <a:p>
            <a:pPr marL="0" indent="0">
              <a:buNone/>
            </a:pPr>
            <a:r>
              <a:rPr lang="zh-CN" altLang="en-US"/>
              <a:t>图有时会导致推断出的点云中出现微小裂纹。</a:t>
            </a:r>
            <a:endParaRPr lang="zh-CN" altLang="en-US"/>
          </a:p>
          <a:p>
            <a:pPr marL="0" indent="0">
              <a:buNone/>
            </a:pPr>
            <a:r>
              <a:rPr lang="en-US" altLang="zh-CN"/>
              <a:t>• </a:t>
            </a:r>
            <a:r>
              <a:rPr lang="zh-CN" altLang="en-US"/>
              <a:t>生成</a:t>
            </a:r>
            <a:r>
              <a:rPr lang="en-US" altLang="zh-CN"/>
              <a:t>16K</a:t>
            </a:r>
            <a:r>
              <a:rPr lang="zh-CN" altLang="en-US"/>
              <a:t>点的点云而非</a:t>
            </a:r>
            <a:r>
              <a:rPr lang="en-US" altLang="zh-CN"/>
              <a:t>4K</a:t>
            </a:r>
            <a:r>
              <a:rPr lang="zh-CN" altLang="en-US"/>
              <a:t>点。</a:t>
            </a:r>
            <a:endParaRPr lang="zh-CN" altLang="en-US"/>
          </a:p>
          <a:p>
            <a:pPr marL="0" indent="0">
              <a:buNone/>
            </a:pPr>
            <a:r>
              <a:rPr lang="en-US" altLang="zh-CN"/>
              <a:t>• </a:t>
            </a:r>
            <a:r>
              <a:rPr lang="zh-CN" altLang="en-US"/>
              <a:t>在训练编码器时，简化了光照和材质的渲染。具体而言，所有模型均采用固定光照配置进行渲染，仅支持漫反射和环境光遮蔽。这种设置便于将光照参数与可微分渲染器进行匹配</a:t>
            </a:r>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Shap-E</a:t>
            </a:r>
            <a:r>
              <a:rPr lang="zh-CN" altLang="en-US"/>
              <a:t>编码器</a:t>
            </a:r>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805815" y="1490345"/>
            <a:ext cx="6025515" cy="4759325"/>
          </a:xfrm>
          <a:prstGeom prst="rect">
            <a:avLst/>
          </a:prstGeom>
        </p:spPr>
      </p:pic>
      <p:sp>
        <p:nvSpPr>
          <p:cNvPr id="7" name="文本框 6"/>
          <p:cNvSpPr txBox="1"/>
          <p:nvPr/>
        </p:nvSpPr>
        <p:spPr>
          <a:xfrm>
            <a:off x="6892925" y="1612265"/>
            <a:ext cx="4771390" cy="3688080"/>
          </a:xfrm>
          <a:prstGeom prst="rect">
            <a:avLst/>
          </a:prstGeom>
          <a:noFill/>
        </p:spPr>
        <p:txBody>
          <a:bodyPr wrap="square" rtlCol="0">
            <a:noAutofit/>
          </a:bodyPr>
          <a:p>
            <a:r>
              <a:rPr lang="zh-CN" altLang="en-US">
                <a:sym typeface="+mn-ea"/>
              </a:rPr>
              <a:t>同时接收点云数据和</a:t>
            </a:r>
            <a:r>
              <a:rPr lang="en-US" altLang="zh-CN">
                <a:sym typeface="+mn-ea"/>
              </a:rPr>
              <a:t>3D</a:t>
            </a:r>
            <a:r>
              <a:rPr lang="zh-CN" altLang="en-US">
                <a:sym typeface="+mn-ea"/>
              </a:rPr>
              <a:t>资产的渲染视图作为输入，最终输出多层感知机（</a:t>
            </a:r>
            <a:r>
              <a:rPr lang="en-US" altLang="zh-CN">
                <a:sym typeface="+mn-ea"/>
              </a:rPr>
              <a:t>MLP</a:t>
            </a:r>
            <a:r>
              <a:rPr lang="zh-CN" altLang="en-US">
                <a:sym typeface="+mn-ea"/>
              </a:rPr>
              <a:t>）的参数，通过隐式函数形式对资产进行表征。</a:t>
            </a:r>
            <a:r>
              <a:rPr lang="zh-CN" altLang="en-US"/>
              <a:t>点云数据与输入视图均经过交叉注意力机制处理，随后输入</a:t>
            </a:r>
            <a:r>
              <a:rPr lang="en-US" altLang="zh-CN"/>
              <a:t>Transformer</a:t>
            </a:r>
            <a:r>
              <a:rPr lang="zh-CN" altLang="en-US"/>
              <a:t>主干网络中生成向量序列形式的潜在表示该序列中的每个向量都会经过潜在瓶颈层和投影层处理，其输出结果作</a:t>
            </a:r>
            <a:r>
              <a:rPr lang="en-US" altLang="zh-CN"/>
              <a:t>MLP </a:t>
            </a:r>
            <a:r>
              <a:rPr lang="zh-CN" altLang="en-US"/>
              <a:t>权重矩阵的单行向量输出。在训练过程中，系统会调用</a:t>
            </a:r>
            <a:r>
              <a:rPr lang="en-US" altLang="zh-CN"/>
              <a:t> MLP </a:t>
            </a:r>
            <a:r>
              <a:rPr lang="zh-CN" altLang="en-US"/>
              <a:t>进行查询，其输出结果将用于图像重建损失或蒸馏损失的计算</a:t>
            </a:r>
            <a:endParaRPr lang="zh-CN" altLang="en-US"/>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p:nvPr>
            <p:ph idx="1"/>
            <p:custDataLst>
              <p:tags r:id="rId1"/>
            </p:custDataLst>
          </p:nvPr>
        </p:nvSpPr>
        <p:spPr>
          <a:xfrm>
            <a:off x="608400" y="1490400"/>
            <a:ext cx="10969200" cy="4759200"/>
          </a:xfrm>
        </p:spPr>
        <p:txBody>
          <a:bodyPr/>
          <a:p>
            <a:pPr marL="0" indent="0">
              <a:buNone/>
            </a:pPr>
            <a:r>
              <a:rPr lang="zh-CN" altLang="en-US"/>
              <a:t>在生成模型方面，</a:t>
            </a:r>
            <a:r>
              <a:rPr lang="en-US" altLang="zh-CN"/>
              <a:t>Shap-E</a:t>
            </a:r>
            <a:r>
              <a:rPr lang="zh-CN" altLang="en-US"/>
              <a:t>沿用了</a:t>
            </a:r>
            <a:r>
              <a:rPr lang="en-US" altLang="zh-CN"/>
              <a:t>Point-E</a:t>
            </a:r>
            <a:r>
              <a:rPr lang="zh-CN" altLang="en-US"/>
              <a:t>基于</a:t>
            </a:r>
            <a:r>
              <a:rPr lang="en-US" altLang="zh-CN"/>
              <a:t>Transformer</a:t>
            </a:r>
            <a:r>
              <a:rPr lang="zh-CN" altLang="en-US"/>
              <a:t>的扩散架构，但将点云数据替换为潜</a:t>
            </a:r>
            <a:endParaRPr lang="zh-CN" altLang="en-US"/>
          </a:p>
          <a:p>
            <a:pPr marL="0" indent="0">
              <a:buNone/>
            </a:pPr>
            <a:r>
              <a:rPr lang="zh-CN" altLang="en-US"/>
              <a:t>在向量序列。潜在变量采用</a:t>
            </a:r>
            <a:r>
              <a:rPr lang="en-US" altLang="zh-CN"/>
              <a:t>1024 </a:t>
            </a:r>
            <a:r>
              <a:rPr lang="en-US" altLang="en-US"/>
              <a:t>×</a:t>
            </a:r>
            <a:r>
              <a:rPr lang="en-US" altLang="zh-CN"/>
              <a:t> 1024</a:t>
            </a:r>
            <a:r>
              <a:rPr lang="zh-CN" altLang="en-US"/>
              <a:t>维度的序列形式，通过</a:t>
            </a:r>
            <a:r>
              <a:rPr lang="en-US" altLang="zh-CN"/>
              <a:t>1024</a:t>
            </a:r>
            <a:r>
              <a:rPr lang="zh-CN" altLang="en-US"/>
              <a:t>个标记组成的序列输入</a:t>
            </a:r>
            <a:r>
              <a:rPr lang="en-US" altLang="zh-CN"/>
              <a:t>Transformer</a:t>
            </a:r>
            <a:r>
              <a:rPr lang="zh-CN" altLang="en-US"/>
              <a:t>模型，每个标记对应</a:t>
            </a:r>
            <a:r>
              <a:rPr lang="en-US" altLang="zh-CN"/>
              <a:t> MLP </a:t>
            </a:r>
            <a:r>
              <a:rPr lang="zh-CN" altLang="en-US"/>
              <a:t>权重矩阵的不同行</a:t>
            </a:r>
            <a:endParaRPr lang="zh-CN" altLang="en-US"/>
          </a:p>
          <a:p>
            <a:pPr marL="0" indent="0">
              <a:buNone/>
            </a:pPr>
            <a:endParaRPr lang="zh-CN" altLang="en-US"/>
          </a:p>
          <a:p>
            <a:pPr marL="0" indent="0">
              <a:buNone/>
            </a:pPr>
            <a:r>
              <a:rPr lang="zh-CN" altLang="en-US"/>
              <a:t>沿用</a:t>
            </a:r>
            <a:r>
              <a:rPr lang="en-US" altLang="zh-CN"/>
              <a:t> </a:t>
            </a:r>
            <a:r>
              <a:rPr lang="en-US" altLang="zh-CN"/>
              <a:t>Point-E </a:t>
            </a:r>
            <a:r>
              <a:rPr lang="zh-CN" altLang="en-US"/>
              <a:t>的条件策略：在图像生成任务中，将</a:t>
            </a:r>
            <a:r>
              <a:rPr lang="en-US" altLang="zh-CN"/>
              <a:t>256</a:t>
            </a:r>
            <a:r>
              <a:rPr lang="zh-CN" altLang="en-US"/>
              <a:t>个标记的</a:t>
            </a:r>
            <a:r>
              <a:rPr lang="en-US" altLang="zh-CN"/>
              <a:t>CLIP</a:t>
            </a:r>
            <a:r>
              <a:rPr lang="zh-CN" altLang="en-US"/>
              <a:t>嵌入序列置于</a:t>
            </a:r>
            <a:r>
              <a:rPr lang="en-US" altLang="zh-CN"/>
              <a:t>Transformer</a:t>
            </a:r>
            <a:r>
              <a:rPr lang="zh-CN" altLang="en-US"/>
              <a:t>上下文前；文本生成任务则添加包含</a:t>
            </a:r>
            <a:r>
              <a:rPr lang="en-US" altLang="zh-CN"/>
              <a:t>CLIP</a:t>
            </a:r>
            <a:r>
              <a:rPr lang="zh-CN" altLang="en-US"/>
              <a:t>文本嵌入的单标记。</a:t>
            </a:r>
            <a:endParaRPr lang="zh-CN" altLang="en-US"/>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custDataLst>
              <p:tags r:id="rId1"/>
            </p:custDataLst>
          </p:nvPr>
        </p:nvPicPr>
        <p:blipFill>
          <a:blip r:embed="rId2"/>
          <a:stretch>
            <a:fillRect/>
          </a:stretch>
        </p:blipFill>
        <p:spPr>
          <a:xfrm>
            <a:off x="196850" y="992505"/>
            <a:ext cx="5421630" cy="4090670"/>
          </a:xfrm>
          <a:prstGeom prst="rect">
            <a:avLst/>
          </a:prstGeom>
        </p:spPr>
      </p:pic>
      <p:pic>
        <p:nvPicPr>
          <p:cNvPr id="7" name="图片 6"/>
          <p:cNvPicPr>
            <a:picLocks noChangeAspect="1"/>
          </p:cNvPicPr>
          <p:nvPr/>
        </p:nvPicPr>
        <p:blipFill>
          <a:blip r:embed="rId3"/>
          <a:stretch>
            <a:fillRect/>
          </a:stretch>
        </p:blipFill>
        <p:spPr>
          <a:xfrm>
            <a:off x="5838190" y="1148715"/>
            <a:ext cx="6273165" cy="4300220"/>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832485"/>
            <a:ext cx="10968990" cy="5417185"/>
          </a:xfrm>
        </p:spPr>
        <p:txBody>
          <a:bodyPr/>
          <a:p>
            <a:pPr marL="0" indent="0">
              <a:buNone/>
            </a:pPr>
            <a:r>
              <a:rPr lang="en-US" altLang="zh-CN">
                <a:solidFill>
                  <a:srgbClr val="FF0000"/>
                </a:solidFill>
                <a:latin typeface="微软雅黑" panose="020B0503020204020204" charset="-122"/>
                <a:ea typeface="微软雅黑" panose="020B0503020204020204" charset="-122"/>
                <a:cs typeface="微软雅黑" panose="020B0503020204020204" charset="-122"/>
              </a:rPr>
              <a:t>DreamFusion</a:t>
            </a:r>
            <a:r>
              <a:rPr lang="zh-CN" altLang="en-US">
                <a:solidFill>
                  <a:srgbClr val="FF0000"/>
                </a:solidFill>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仅凭预训练的</a:t>
            </a:r>
            <a:r>
              <a:rPr lang="en-US" altLang="zh-CN">
                <a:latin typeface="微软雅黑" panose="020B0503020204020204" charset="-122"/>
                <a:ea typeface="微软雅黑" panose="020B0503020204020204" charset="-122"/>
                <a:cs typeface="微软雅黑" panose="020B0503020204020204" charset="-122"/>
              </a:rPr>
              <a:t> 2D </a:t>
            </a:r>
            <a:r>
              <a:rPr lang="zh-CN" altLang="en-US">
                <a:latin typeface="微软雅黑" panose="020B0503020204020204" charset="-122"/>
                <a:ea typeface="微软雅黑" panose="020B0503020204020204" charset="-122"/>
                <a:cs typeface="微软雅黑" panose="020B0503020204020204" charset="-122"/>
              </a:rPr>
              <a:t>文本</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图像扩散模型，就能生成高质量、多视角一致的</a:t>
            </a:r>
            <a:r>
              <a:rPr lang="en-US" altLang="zh-CN">
                <a:latin typeface="微软雅黑" panose="020B0503020204020204" charset="-122"/>
                <a:ea typeface="微软雅黑" panose="020B0503020204020204" charset="-122"/>
                <a:cs typeface="微软雅黑" panose="020B0503020204020204" charset="-122"/>
              </a:rPr>
              <a:t> 3D </a:t>
            </a:r>
            <a:r>
              <a:rPr lang="zh-CN" altLang="en-US">
                <a:latin typeface="微软雅黑" panose="020B0503020204020204" charset="-122"/>
                <a:ea typeface="微软雅黑" panose="020B0503020204020204" charset="-122"/>
                <a:cs typeface="微软雅黑" panose="020B0503020204020204" charset="-122"/>
              </a:rPr>
              <a:t>模型，随机初始化一个</a:t>
            </a:r>
            <a:r>
              <a:rPr lang="en-US" altLang="zh-CN">
                <a:latin typeface="微软雅黑" panose="020B0503020204020204" charset="-122"/>
                <a:ea typeface="微软雅黑" panose="020B0503020204020204" charset="-122"/>
                <a:cs typeface="微软雅黑" panose="020B0503020204020204" charset="-122"/>
              </a:rPr>
              <a:t> NeRF </a:t>
            </a:r>
            <a:r>
              <a:rPr lang="zh-CN" altLang="en-US">
                <a:latin typeface="微软雅黑" panose="020B0503020204020204" charset="-122"/>
                <a:ea typeface="微软雅黑" panose="020B0503020204020204" charset="-122"/>
                <a:cs typeface="微软雅黑" panose="020B0503020204020204" charset="-122"/>
              </a:rPr>
              <a:t>网络，随机选择一批相机视角，利用</a:t>
            </a:r>
            <a:r>
              <a:rPr lang="en-US" altLang="zh-CN">
                <a:latin typeface="微软雅黑" panose="020B0503020204020204" charset="-122"/>
                <a:ea typeface="微软雅黑" panose="020B0503020204020204" charset="-122"/>
                <a:cs typeface="微软雅黑" panose="020B0503020204020204" charset="-122"/>
              </a:rPr>
              <a:t>SDS </a:t>
            </a:r>
            <a:r>
              <a:rPr lang="zh-CN" altLang="en-US">
                <a:latin typeface="微软雅黑" panose="020B0503020204020204" charset="-122"/>
                <a:ea typeface="微软雅黑" panose="020B0503020204020204" charset="-122"/>
                <a:cs typeface="微软雅黑" panose="020B0503020204020204" charset="-122"/>
              </a:rPr>
              <a:t>来不断优化</a:t>
            </a:r>
            <a:r>
              <a:rPr lang="en-US" altLang="zh-CN">
                <a:latin typeface="微软雅黑" panose="020B0503020204020204" charset="-122"/>
                <a:ea typeface="微软雅黑" panose="020B0503020204020204" charset="-122"/>
                <a:cs typeface="微软雅黑" panose="020B0503020204020204" charset="-122"/>
              </a:rPr>
              <a:t>NeRF </a:t>
            </a:r>
            <a:r>
              <a:rPr lang="zh-CN" altLang="en-US">
                <a:latin typeface="微软雅黑" panose="020B0503020204020204" charset="-122"/>
                <a:ea typeface="微软雅黑" panose="020B0503020204020204" charset="-122"/>
                <a:cs typeface="微软雅黑" panose="020B0503020204020204" charset="-122"/>
              </a:rPr>
              <a:t>参数，实现了：不直接生成</a:t>
            </a:r>
            <a:r>
              <a:rPr lang="en-US" altLang="zh-CN">
                <a:latin typeface="微软雅黑" panose="020B0503020204020204" charset="-122"/>
                <a:ea typeface="微软雅黑" panose="020B0503020204020204" charset="-122"/>
                <a:cs typeface="微软雅黑" panose="020B0503020204020204" charset="-122"/>
              </a:rPr>
              <a:t> 3D </a:t>
            </a:r>
            <a:r>
              <a:rPr lang="zh-CN" altLang="en-US">
                <a:latin typeface="微软雅黑" panose="020B0503020204020204" charset="-122"/>
                <a:ea typeface="微软雅黑" panose="020B0503020204020204" charset="-122"/>
                <a:cs typeface="微软雅黑" panose="020B0503020204020204" charset="-122"/>
              </a:rPr>
              <a:t>数据，而是利用一个已经在大规模互联网（文本，图像）数据上训练好的、理解力极强的</a:t>
            </a:r>
            <a:r>
              <a:rPr lang="en-US" altLang="zh-CN">
                <a:latin typeface="微软雅黑" panose="020B0503020204020204" charset="-122"/>
                <a:ea typeface="微软雅黑" panose="020B0503020204020204" charset="-122"/>
                <a:cs typeface="微软雅黑" panose="020B0503020204020204" charset="-122"/>
              </a:rPr>
              <a:t> 2D </a:t>
            </a:r>
            <a:r>
              <a:rPr lang="zh-CN" altLang="en-US">
                <a:latin typeface="微软雅黑" panose="020B0503020204020204" charset="-122"/>
                <a:ea typeface="微软雅黑" panose="020B0503020204020204" charset="-122"/>
                <a:cs typeface="微软雅黑" panose="020B0503020204020204" charset="-122"/>
              </a:rPr>
              <a:t>模型，来引导一个</a:t>
            </a:r>
            <a:r>
              <a:rPr lang="en-US" altLang="zh-CN">
                <a:latin typeface="微软雅黑" panose="020B0503020204020204" charset="-122"/>
                <a:ea typeface="微软雅黑" panose="020B0503020204020204" charset="-122"/>
                <a:cs typeface="微软雅黑" panose="020B0503020204020204" charset="-122"/>
              </a:rPr>
              <a:t> 3D </a:t>
            </a:r>
            <a:r>
              <a:rPr lang="zh-CN" altLang="en-US">
                <a:latin typeface="微软雅黑" panose="020B0503020204020204" charset="-122"/>
                <a:ea typeface="微软雅黑" panose="020B0503020204020204" charset="-122"/>
                <a:cs typeface="微软雅黑" panose="020B0503020204020204" charset="-122"/>
              </a:rPr>
              <a:t>模型的优化过程，它提出的</a:t>
            </a:r>
            <a:r>
              <a:rPr lang="en-US" altLang="zh-CN">
                <a:latin typeface="微软雅黑" panose="020B0503020204020204" charset="-122"/>
                <a:ea typeface="微软雅黑" panose="020B0503020204020204" charset="-122"/>
                <a:cs typeface="微软雅黑" panose="020B0503020204020204" charset="-122"/>
              </a:rPr>
              <a:t> SDS </a:t>
            </a:r>
            <a:r>
              <a:rPr lang="zh-CN" altLang="en-US">
                <a:latin typeface="微软雅黑" panose="020B0503020204020204" charset="-122"/>
                <a:ea typeface="微软雅黑" panose="020B0503020204020204" charset="-122"/>
                <a:cs typeface="微软雅黑" panose="020B0503020204020204" charset="-122"/>
              </a:rPr>
              <a:t>方法为后续几乎所有文本生成</a:t>
            </a:r>
            <a:r>
              <a:rPr lang="en-US" altLang="zh-CN">
                <a:latin typeface="微软雅黑" panose="020B0503020204020204" charset="-122"/>
                <a:ea typeface="微软雅黑" panose="020B0503020204020204" charset="-122"/>
                <a:cs typeface="微软雅黑" panose="020B0503020204020204" charset="-122"/>
              </a:rPr>
              <a:t> 3D </a:t>
            </a:r>
            <a:r>
              <a:rPr lang="zh-CN" altLang="en-US">
                <a:latin typeface="微软雅黑" panose="020B0503020204020204" charset="-122"/>
                <a:ea typeface="微软雅黑" panose="020B0503020204020204" charset="-122"/>
                <a:cs typeface="微软雅黑" panose="020B0503020204020204" charset="-122"/>
              </a:rPr>
              <a:t>的研究（包括</a:t>
            </a:r>
            <a:r>
              <a:rPr lang="en-US" altLang="zh-CN">
                <a:latin typeface="微软雅黑" panose="020B0503020204020204" charset="-122"/>
                <a:ea typeface="微软雅黑" panose="020B0503020204020204" charset="-122"/>
                <a:cs typeface="微软雅黑" panose="020B0503020204020204" charset="-122"/>
              </a:rPr>
              <a:t> Magic3D</a:t>
            </a:r>
            <a:r>
              <a:rPr lang="zh-CN" altLang="en-US">
                <a:latin typeface="微软雅黑" panose="020B0503020204020204" charset="-122"/>
                <a:ea typeface="微软雅黑" panose="020B0503020204020204" charset="-122"/>
                <a:cs typeface="微软雅黑" panose="020B0503020204020204" charset="-122"/>
              </a:rPr>
              <a:t>）奠定了基础，缺陷：速度慢，分辨率低，双面神</a:t>
            </a:r>
            <a:r>
              <a:rPr lang="zh-CN" altLang="en-US">
                <a:latin typeface="微软雅黑" panose="020B0503020204020204" charset="-122"/>
                <a:ea typeface="微软雅黑" panose="020B0503020204020204" charset="-122"/>
                <a:cs typeface="微软雅黑" panose="020B0503020204020204" charset="-122"/>
              </a:rPr>
              <a:t>问题。</a:t>
            </a:r>
            <a:endParaRPr lang="zh-CN" altLang="en-US">
              <a:latin typeface="微软雅黑" panose="020B0503020204020204" charset="-122"/>
              <a:ea typeface="微软雅黑" panose="020B0503020204020204" charset="-122"/>
              <a:cs typeface="微软雅黑" panose="020B0503020204020204" charset="-122"/>
            </a:endParaRPr>
          </a:p>
          <a:p>
            <a:pPr marL="0" indent="0">
              <a:buNone/>
            </a:pPr>
            <a:endParaRPr lang="en-US" altLang="zh-CN">
              <a:latin typeface="微软雅黑" panose="020B0503020204020204" charset="-122"/>
              <a:ea typeface="微软雅黑" panose="020B0503020204020204" charset="-122"/>
              <a:cs typeface="微软雅黑" panose="020B0503020204020204" charset="-122"/>
            </a:endParaRPr>
          </a:p>
          <a:p>
            <a:pPr marL="0" indent="0">
              <a:buNone/>
            </a:pPr>
            <a:r>
              <a:rPr lang="en-US" altLang="zh-CN">
                <a:solidFill>
                  <a:srgbClr val="FF0000"/>
                </a:solidFill>
                <a:latin typeface="微软雅黑" panose="020B0503020204020204" charset="-122"/>
                <a:ea typeface="微软雅黑" panose="020B0503020204020204" charset="-122"/>
                <a:cs typeface="微软雅黑" panose="020B0503020204020204" charset="-122"/>
              </a:rPr>
              <a:t>Magic3D</a:t>
            </a:r>
            <a:r>
              <a:rPr lang="zh-CN" altLang="en-US">
                <a:solidFill>
                  <a:srgbClr val="FF0000"/>
                </a:solidFill>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避免了直接用高成本的高清模型去探索巨大的</a:t>
            </a:r>
            <a:r>
              <a:rPr lang="en-US" altLang="zh-CN">
                <a:latin typeface="微软雅黑" panose="020B0503020204020204" charset="-122"/>
                <a:ea typeface="微软雅黑" panose="020B0503020204020204" charset="-122"/>
                <a:cs typeface="微软雅黑" panose="020B0503020204020204" charset="-122"/>
              </a:rPr>
              <a:t> 3D </a:t>
            </a:r>
            <a:r>
              <a:rPr lang="zh-CN" altLang="en-US">
                <a:latin typeface="微软雅黑" panose="020B0503020204020204" charset="-122"/>
                <a:ea typeface="微软雅黑" panose="020B0503020204020204" charset="-122"/>
                <a:cs typeface="微软雅黑" panose="020B0503020204020204" charset="-122"/>
              </a:rPr>
              <a:t>空间，先用低分辨率</a:t>
            </a:r>
            <a:r>
              <a:rPr lang="en-US" altLang="zh-CN">
                <a:latin typeface="微软雅黑" panose="020B0503020204020204" charset="-122"/>
                <a:ea typeface="微软雅黑" panose="020B0503020204020204" charset="-122"/>
                <a:cs typeface="微软雅黑" panose="020B0503020204020204" charset="-122"/>
              </a:rPr>
              <a:t> NeRF + LDM</a:t>
            </a:r>
            <a:r>
              <a:rPr lang="zh-CN" altLang="en-US">
                <a:latin typeface="微软雅黑" panose="020B0503020204020204" charset="-122"/>
                <a:ea typeface="微软雅黑" panose="020B0503020204020204" charset="-122"/>
                <a:cs typeface="微软雅黑" panose="020B0503020204020204" charset="-122"/>
              </a:rPr>
              <a:t>快速生成</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看起来像扩散模型根据我的文本提示所生成的图像</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，再用高分辨率网格</a:t>
            </a:r>
            <a:r>
              <a:rPr lang="en-US" altLang="zh-CN">
                <a:latin typeface="微软雅黑" panose="020B0503020204020204" charset="-122"/>
                <a:ea typeface="微软雅黑" panose="020B0503020204020204" charset="-122"/>
                <a:cs typeface="微软雅黑" panose="020B0503020204020204" charset="-122"/>
              </a:rPr>
              <a:t> + </a:t>
            </a:r>
            <a:r>
              <a:rPr lang="zh-CN" altLang="en-US">
                <a:latin typeface="微软雅黑" panose="020B0503020204020204" charset="-122"/>
                <a:ea typeface="微软雅黑" panose="020B0503020204020204" charset="-122"/>
                <a:cs typeface="微软雅黑" panose="020B0503020204020204" charset="-122"/>
              </a:rPr>
              <a:t>扩散模型进行精细优化，解决问题与优化：核心突破在于两阶段优化框架，这个框架巧妙地结合了速度和质量，解决了之前文本生成</a:t>
            </a:r>
            <a:r>
              <a:rPr lang="en-US" altLang="zh-CN">
                <a:latin typeface="微软雅黑" panose="020B0503020204020204" charset="-122"/>
                <a:ea typeface="微软雅黑" panose="020B0503020204020204" charset="-122"/>
                <a:cs typeface="微软雅黑" panose="020B0503020204020204" charset="-122"/>
              </a:rPr>
              <a:t> 3D </a:t>
            </a:r>
            <a:r>
              <a:rPr lang="zh-CN" altLang="en-US">
                <a:latin typeface="微软雅黑" panose="020B0503020204020204" charset="-122"/>
                <a:ea typeface="微软雅黑" panose="020B0503020204020204" charset="-122"/>
                <a:cs typeface="微软雅黑" panose="020B0503020204020204" charset="-122"/>
              </a:rPr>
              <a:t>模型（如</a:t>
            </a:r>
            <a:r>
              <a:rPr lang="en-US" altLang="zh-CN">
                <a:latin typeface="微软雅黑" panose="020B0503020204020204" charset="-122"/>
                <a:ea typeface="微软雅黑" panose="020B0503020204020204" charset="-122"/>
                <a:cs typeface="微软雅黑" panose="020B0503020204020204" charset="-122"/>
              </a:rPr>
              <a:t> DreamFusion</a:t>
            </a:r>
            <a:r>
              <a:rPr lang="zh-CN" altLang="en-US">
                <a:latin typeface="微软雅黑" panose="020B0503020204020204" charset="-122"/>
                <a:ea typeface="微软雅黑" panose="020B0503020204020204" charset="-122"/>
                <a:cs typeface="微软雅黑" panose="020B0503020204020204" charset="-122"/>
              </a:rPr>
              <a:t>）面临的主要瓶颈</a:t>
            </a:r>
            <a:endParaRPr lang="zh-CN" altLang="en-US">
              <a:latin typeface="微软雅黑" panose="020B0503020204020204" charset="-122"/>
              <a:ea typeface="微软雅黑" panose="020B0503020204020204" charset="-122"/>
              <a:cs typeface="微软雅黑" panose="020B0503020204020204" charset="-122"/>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581025" y="859155"/>
            <a:ext cx="11029950" cy="5880735"/>
          </a:xfrm>
        </p:spPr>
        <p:txBody>
          <a:bodyPr>
            <a:normAutofit/>
          </a:bodyPr>
          <a:p>
            <a:pPr indent="112395" algn="l" fontAlgn="auto">
              <a:lnSpc>
                <a:spcPct val="150000"/>
              </a:lnSpc>
            </a:pPr>
            <a:r>
              <a:rPr lang="en-US" altLang="zh-CN">
                <a:solidFill>
                  <a:srgbClr val="FF0000"/>
                </a:solidFill>
                <a:latin typeface="微软雅黑" panose="020B0503020204020204" charset="-122"/>
                <a:ea typeface="微软雅黑" panose="020B0503020204020204" charset="-122"/>
                <a:sym typeface="+mn-ea"/>
              </a:rPr>
              <a:t>LRM</a:t>
            </a:r>
            <a:r>
              <a:rPr lang="zh-CN" altLang="en-US">
                <a:solidFill>
                  <a:srgbClr val="000000"/>
                </a:solidFill>
                <a:latin typeface="微软雅黑" panose="020B0503020204020204" charset="-122"/>
                <a:ea typeface="微软雅黑" panose="020B0503020204020204" charset="-122"/>
                <a:sym typeface="+mn-ea"/>
              </a:rPr>
              <a:t>：首个大规模三维重建模型，利用预训练的视觉</a:t>
            </a:r>
            <a:r>
              <a:rPr lang="zh-CN" altLang="en-US">
                <a:solidFill>
                  <a:srgbClr val="000000"/>
                </a:solidFill>
                <a:latin typeface="微软雅黑" panose="020B0503020204020204" charset="-122"/>
                <a:ea typeface="微软雅黑" panose="020B0503020204020204" charset="-122"/>
                <a:sym typeface="+mn-ea"/>
              </a:rPr>
              <a:t>变换器</a:t>
            </a:r>
            <a:r>
              <a:rPr lang="en-US" altLang="zh-CN">
                <a:solidFill>
                  <a:srgbClr val="000000"/>
                </a:solidFill>
                <a:latin typeface="微软雅黑" panose="020B0503020204020204" charset="-122"/>
                <a:ea typeface="微软雅黑" panose="020B0503020204020204" charset="-122"/>
                <a:sym typeface="+mn-ea"/>
              </a:rPr>
              <a:t>DINO</a:t>
            </a:r>
            <a:r>
              <a:rPr lang="zh-CN" altLang="en-US">
                <a:solidFill>
                  <a:srgbClr val="000000"/>
                </a:solidFill>
                <a:latin typeface="微软雅黑" panose="020B0503020204020204" charset="-122"/>
                <a:ea typeface="微软雅黑" panose="020B0503020204020204" charset="-122"/>
                <a:sym typeface="+mn-ea"/>
              </a:rPr>
              <a:t>作为图像编码器生成图像特征，并通过图像到三平面的</a:t>
            </a:r>
            <a:r>
              <a:rPr lang="en-US" altLang="zh-CN">
                <a:solidFill>
                  <a:srgbClr val="000000"/>
                </a:solidFill>
                <a:latin typeface="微软雅黑" panose="020B0503020204020204" charset="-122"/>
                <a:ea typeface="微软雅黑" panose="020B0503020204020204" charset="-122"/>
                <a:sym typeface="+mn-ea"/>
              </a:rPr>
              <a:t>Transformer</a:t>
            </a:r>
            <a:r>
              <a:rPr lang="zh-CN" altLang="en-US">
                <a:solidFill>
                  <a:srgbClr val="000000"/>
                </a:solidFill>
                <a:latin typeface="微软雅黑" panose="020B0503020204020204" charset="-122"/>
                <a:ea typeface="微软雅黑" panose="020B0503020204020204" charset="-122"/>
                <a:sym typeface="+mn-ea"/>
              </a:rPr>
              <a:t>解码器，利用交叉注意力机制将二维图像特征投影到三维三平面空间</a:t>
            </a:r>
            <a:r>
              <a:rPr lang="en-US" altLang="zh-CN">
                <a:solidFill>
                  <a:srgbClr val="000000"/>
                </a:solidFill>
                <a:latin typeface="微软雅黑" panose="020B0503020204020204" charset="-122"/>
                <a:ea typeface="微软雅黑" panose="020B0503020204020204" charset="-122"/>
                <a:sym typeface="+mn-ea"/>
              </a:rPr>
              <a:t>,</a:t>
            </a:r>
            <a:r>
              <a:rPr lang="zh-CN" altLang="en-US">
                <a:solidFill>
                  <a:srgbClr val="000000"/>
                </a:solidFill>
                <a:latin typeface="微软雅黑" panose="020B0503020204020204" charset="-122"/>
                <a:ea typeface="微软雅黑" panose="020B0503020204020204" charset="-122"/>
                <a:sym typeface="+mn-ea"/>
              </a:rPr>
              <a:t>将相机参数引入到训练中</a:t>
            </a:r>
            <a:endParaRPr lang="zh-CN" altLang="en-US" b="0">
              <a:solidFill>
                <a:srgbClr val="000000"/>
              </a:solidFill>
              <a:latin typeface="微软雅黑" panose="020B0503020204020204" charset="-122"/>
              <a:ea typeface="微软雅黑" panose="020B0503020204020204" charset="-122"/>
            </a:endParaRPr>
          </a:p>
          <a:p>
            <a:pPr indent="112395" algn="l" fontAlgn="auto">
              <a:lnSpc>
                <a:spcPct val="150000"/>
              </a:lnSpc>
            </a:pPr>
            <a:r>
              <a:rPr lang="en-US" altLang="zh-CN">
                <a:solidFill>
                  <a:srgbClr val="FF0000"/>
                </a:solidFill>
                <a:latin typeface="微软雅黑" panose="020B0503020204020204" charset="-122"/>
                <a:ea typeface="微软雅黑" panose="020B0503020204020204" charset="-122"/>
                <a:sym typeface="+mn-ea"/>
              </a:rPr>
              <a:t>TripoSR</a:t>
            </a:r>
            <a:r>
              <a:rPr lang="zh-CN" altLang="en-US">
                <a:solidFill>
                  <a:srgbClr val="000000"/>
                </a:solidFill>
                <a:latin typeface="微软雅黑" panose="020B0503020204020204" charset="-122"/>
                <a:ea typeface="微软雅黑" panose="020B0503020204020204" charset="-122"/>
                <a:sym typeface="+mn-ea"/>
              </a:rPr>
              <a:t>：采用</a:t>
            </a:r>
            <a:r>
              <a:rPr lang="en-US" altLang="zh-CN">
                <a:solidFill>
                  <a:srgbClr val="000000"/>
                </a:solidFill>
                <a:latin typeface="微软雅黑" panose="020B0503020204020204" charset="-122"/>
                <a:ea typeface="微软雅黑" panose="020B0503020204020204" charset="-122"/>
                <a:sym typeface="+mn-ea"/>
              </a:rPr>
              <a:t>transformer</a:t>
            </a:r>
            <a:r>
              <a:rPr lang="zh-CN" altLang="en-US">
                <a:solidFill>
                  <a:srgbClr val="000000"/>
                </a:solidFill>
                <a:latin typeface="微软雅黑" panose="020B0503020204020204" charset="-122"/>
                <a:ea typeface="微软雅黑" panose="020B0503020204020204" charset="-122"/>
                <a:sym typeface="+mn-ea"/>
              </a:rPr>
              <a:t>架构实现快速前馈式三维生成，在</a:t>
            </a:r>
            <a:r>
              <a:rPr lang="en-US" altLang="zh-CN">
                <a:solidFill>
                  <a:srgbClr val="000000"/>
                </a:solidFill>
                <a:latin typeface="微软雅黑" panose="020B0503020204020204" charset="-122"/>
                <a:ea typeface="微软雅黑" panose="020B0503020204020204" charset="-122"/>
                <a:sym typeface="+mn-ea"/>
              </a:rPr>
              <a:t>0.5</a:t>
            </a:r>
            <a:r>
              <a:rPr lang="zh-CN" altLang="en-US">
                <a:solidFill>
                  <a:srgbClr val="000000"/>
                </a:solidFill>
                <a:latin typeface="微软雅黑" panose="020B0503020204020204" charset="-122"/>
                <a:ea typeface="微软雅黑" panose="020B0503020204020204" charset="-122"/>
                <a:sym typeface="+mn-ea"/>
              </a:rPr>
              <a:t>秒内即可从单张图像生成三维网格，网络架构基于</a:t>
            </a:r>
            <a:r>
              <a:rPr lang="en-US" altLang="zh-CN">
                <a:solidFill>
                  <a:srgbClr val="000000"/>
                </a:solidFill>
                <a:latin typeface="微软雅黑" panose="020B0503020204020204" charset="-122"/>
                <a:ea typeface="微软雅黑" panose="020B0503020204020204" charset="-122"/>
                <a:sym typeface="+mn-ea"/>
              </a:rPr>
              <a:t>LRM </a:t>
            </a:r>
            <a:r>
              <a:rPr lang="zh-CN" altLang="en-US">
                <a:solidFill>
                  <a:srgbClr val="000000"/>
                </a:solidFill>
                <a:latin typeface="微软雅黑" panose="020B0503020204020204" charset="-122"/>
                <a:ea typeface="微软雅黑" panose="020B0503020204020204" charset="-122"/>
                <a:sym typeface="+mn-ea"/>
              </a:rPr>
              <a:t>网络架构，</a:t>
            </a:r>
            <a:r>
              <a:rPr lang="zh-CN" altLang="en-US">
                <a:solidFill>
                  <a:srgbClr val="000000"/>
                </a:solidFill>
                <a:latin typeface="微软雅黑" panose="020B0503020204020204" charset="-122"/>
                <a:ea typeface="微软雅黑" panose="020B0503020204020204" charset="-122"/>
                <a:sym typeface="+mn-ea"/>
              </a:rPr>
              <a:t>图像编码器使用预训练的视觉变换器模型</a:t>
            </a:r>
            <a:r>
              <a:rPr lang="en-US" altLang="zh-CN">
                <a:solidFill>
                  <a:srgbClr val="000000"/>
                </a:solidFill>
                <a:latin typeface="微软雅黑" panose="020B0503020204020204" charset="-122"/>
                <a:ea typeface="微软雅黑" panose="020B0503020204020204" charset="-122"/>
                <a:sym typeface="+mn-ea"/>
              </a:rPr>
              <a:t>DINOv1</a:t>
            </a:r>
            <a:r>
              <a:rPr lang="zh-CN" altLang="en-US">
                <a:solidFill>
                  <a:srgbClr val="000000"/>
                </a:solidFill>
                <a:latin typeface="微软雅黑" panose="020B0503020204020204" charset="-122"/>
                <a:ea typeface="微软雅黑" panose="020B0503020204020204" charset="-122"/>
                <a:sym typeface="+mn-ea"/>
              </a:rPr>
              <a:t>，解决问题与</a:t>
            </a:r>
            <a:r>
              <a:rPr lang="zh-CN" altLang="en-US">
                <a:solidFill>
                  <a:srgbClr val="000000"/>
                </a:solidFill>
                <a:latin typeface="微软雅黑" panose="020B0503020204020204" charset="-122"/>
                <a:ea typeface="微软雅黑" panose="020B0503020204020204" charset="-122"/>
                <a:sym typeface="+mn-ea"/>
              </a:rPr>
              <a:t>改进：三平面通道优化（提高性能）、掩码损失（伪影和图像失真）、局部渲染监督（平衡效率与精度）</a:t>
            </a:r>
            <a:endParaRPr lang="zh-CN" altLang="en-US" b="0">
              <a:solidFill>
                <a:srgbClr val="000000"/>
              </a:solidFill>
              <a:latin typeface="微软雅黑" panose="020B0503020204020204" charset="-122"/>
              <a:ea typeface="微软雅黑" panose="020B0503020204020204" charset="-122"/>
            </a:endParaRPr>
          </a:p>
          <a:p>
            <a:pPr indent="112395" algn="l" fontAlgn="auto">
              <a:lnSpc>
                <a:spcPct val="150000"/>
              </a:lnSpc>
            </a:pPr>
            <a:r>
              <a:rPr lang="en-US" altLang="zh-CN">
                <a:solidFill>
                  <a:srgbClr val="FF0000"/>
                </a:solidFill>
                <a:latin typeface="微软雅黑" panose="020B0503020204020204" charset="-122"/>
                <a:ea typeface="微软雅黑" panose="020B0503020204020204" charset="-122"/>
                <a:sym typeface="+mn-ea"/>
              </a:rPr>
              <a:t>SF3D</a:t>
            </a:r>
            <a:r>
              <a:rPr lang="en-US" altLang="zh-CN">
                <a:solidFill>
                  <a:srgbClr val="000000"/>
                </a:solidFill>
                <a:latin typeface="微软雅黑" panose="020B0503020204020204" charset="-122"/>
                <a:ea typeface="微软雅黑" panose="020B0503020204020204" charset="-122"/>
                <a:sym typeface="+mn-ea"/>
              </a:rPr>
              <a:t>: </a:t>
            </a:r>
            <a:r>
              <a:rPr lang="zh-CN" altLang="en-US">
                <a:solidFill>
                  <a:srgbClr val="000000"/>
                </a:solidFill>
                <a:latin typeface="微软雅黑" panose="020B0503020204020204" charset="-122"/>
                <a:ea typeface="微软雅黑" panose="020B0503020204020204" charset="-122"/>
                <a:sym typeface="+mn-ea"/>
              </a:rPr>
              <a:t>基于</a:t>
            </a:r>
            <a:r>
              <a:rPr lang="en-US" altLang="zh-CN">
                <a:solidFill>
                  <a:srgbClr val="000000"/>
                </a:solidFill>
                <a:latin typeface="微软雅黑" panose="020B0503020204020204" charset="-122"/>
                <a:ea typeface="微软雅黑" panose="020B0503020204020204" charset="-122"/>
                <a:sym typeface="+mn-ea"/>
              </a:rPr>
              <a:t>TripoSR</a:t>
            </a:r>
            <a:r>
              <a:rPr lang="zh-CN" altLang="en-US">
                <a:solidFill>
                  <a:srgbClr val="000000"/>
                </a:solidFill>
                <a:latin typeface="微软雅黑" panose="020B0503020204020204" charset="-122"/>
                <a:ea typeface="微软雅黑" panose="020B0503020204020204" charset="-122"/>
                <a:sym typeface="+mn-ea"/>
              </a:rPr>
              <a:t>，新增五大模块改进了</a:t>
            </a:r>
            <a:r>
              <a:rPr lang="en-US" altLang="zh-CN">
                <a:solidFill>
                  <a:srgbClr val="000000"/>
                </a:solidFill>
                <a:latin typeface="微软雅黑" panose="020B0503020204020204" charset="-122"/>
                <a:ea typeface="微软雅黑" panose="020B0503020204020204" charset="-122"/>
                <a:sym typeface="+mn-ea"/>
              </a:rPr>
              <a:t>TriporealSight</a:t>
            </a:r>
            <a:r>
              <a:rPr lang="zh-CN" altLang="en-US">
                <a:solidFill>
                  <a:srgbClr val="000000"/>
                </a:solidFill>
                <a:latin typeface="微软雅黑" panose="020B0503020204020204" charset="-122"/>
                <a:ea typeface="微软雅黑" panose="020B0503020204020204" charset="-122"/>
                <a:sym typeface="+mn-ea"/>
              </a:rPr>
              <a:t>系统，解决问题与</a:t>
            </a:r>
            <a:r>
              <a:rPr lang="zh-CN" altLang="en-US">
                <a:solidFill>
                  <a:srgbClr val="000000"/>
                </a:solidFill>
                <a:latin typeface="微软雅黑" panose="020B0503020204020204" charset="-122"/>
                <a:ea typeface="微软雅黑" panose="020B0503020204020204" charset="-122"/>
                <a:sym typeface="+mn-ea"/>
              </a:rPr>
              <a:t>改进：增强型</a:t>
            </a:r>
            <a:r>
              <a:rPr lang="en-US" altLang="zh-CN">
                <a:solidFill>
                  <a:srgbClr val="000000"/>
                </a:solidFill>
                <a:latin typeface="微软雅黑" panose="020B0503020204020204" charset="-122"/>
                <a:ea typeface="微软雅黑" panose="020B0503020204020204" charset="-122"/>
                <a:sym typeface="+mn-ea"/>
              </a:rPr>
              <a:t>Transformer</a:t>
            </a:r>
            <a:r>
              <a:rPr lang="zh-CN" altLang="en-US">
                <a:solidFill>
                  <a:srgbClr val="000000"/>
                </a:solidFill>
                <a:latin typeface="微软雅黑" panose="020B0503020204020204" charset="-122"/>
                <a:ea typeface="微软雅黑" panose="020B0503020204020204" charset="-122"/>
                <a:sym typeface="+mn-ea"/>
              </a:rPr>
              <a:t>（</a:t>
            </a:r>
            <a:r>
              <a:rPr lang="en-US" altLang="zh-CN">
                <a:solidFill>
                  <a:srgbClr val="000000"/>
                </a:solidFill>
                <a:latin typeface="微软雅黑" panose="020B0503020204020204" charset="-122"/>
                <a:ea typeface="微软雅黑" panose="020B0503020204020204" charset="-122"/>
                <a:sym typeface="+mn-ea"/>
              </a:rPr>
              <a:t>DINOv2 </a:t>
            </a:r>
            <a:r>
              <a:rPr lang="zh-CN" altLang="en-US">
                <a:solidFill>
                  <a:srgbClr val="000000"/>
                </a:solidFill>
                <a:latin typeface="微软雅黑" panose="020B0503020204020204" charset="-122"/>
                <a:ea typeface="微软雅黑" panose="020B0503020204020204" charset="-122"/>
                <a:sym typeface="+mn-ea"/>
              </a:rPr>
              <a:t>、提升分辨率）、材料估算（输出金属材质和粗糙度参数）、</a:t>
            </a:r>
            <a:r>
              <a:rPr lang="en-US" altLang="zh-CN">
                <a:solidFill>
                  <a:srgbClr val="000000"/>
                </a:solidFill>
                <a:latin typeface="微软雅黑" panose="020B0503020204020204" charset="-122"/>
                <a:ea typeface="微软雅黑" panose="020B0503020204020204" charset="-122"/>
                <a:sym typeface="+mn-ea"/>
              </a:rPr>
              <a:t> </a:t>
            </a:r>
            <a:r>
              <a:rPr lang="zh-CN" altLang="en-US">
                <a:solidFill>
                  <a:srgbClr val="000000"/>
                </a:solidFill>
                <a:latin typeface="微软雅黑" panose="020B0503020204020204" charset="-122"/>
                <a:ea typeface="微软雅黑" panose="020B0503020204020204" charset="-122"/>
                <a:sym typeface="+mn-ea"/>
              </a:rPr>
              <a:t>光照建模（改善光照效果）、</a:t>
            </a:r>
            <a:r>
              <a:rPr lang="en-US" altLang="zh-CN">
                <a:solidFill>
                  <a:srgbClr val="000000"/>
                </a:solidFill>
                <a:latin typeface="微软雅黑" panose="020B0503020204020204" charset="-122"/>
                <a:ea typeface="微软雅黑" panose="020B0503020204020204" charset="-122"/>
                <a:sym typeface="+mn-ea"/>
              </a:rPr>
              <a:t> </a:t>
            </a:r>
            <a:r>
              <a:rPr lang="zh-CN" altLang="en-US">
                <a:solidFill>
                  <a:srgbClr val="000000"/>
                </a:solidFill>
                <a:latin typeface="微软雅黑" panose="020B0503020204020204" charset="-122"/>
                <a:ea typeface="微软雅黑" panose="020B0503020204020204" charset="-122"/>
                <a:sym typeface="+mn-ea"/>
              </a:rPr>
              <a:t>网格提取和细化、</a:t>
            </a:r>
            <a:r>
              <a:rPr lang="en-US" altLang="zh-CN">
                <a:solidFill>
                  <a:srgbClr val="000000"/>
                </a:solidFill>
                <a:latin typeface="微软雅黑" panose="020B0503020204020204" charset="-122"/>
                <a:ea typeface="微软雅黑" panose="020B0503020204020204" charset="-122"/>
                <a:sym typeface="+mn-ea"/>
              </a:rPr>
              <a:t> </a:t>
            </a:r>
            <a:r>
              <a:rPr lang="zh-CN" altLang="en-US">
                <a:solidFill>
                  <a:srgbClr val="000000"/>
                </a:solidFill>
                <a:latin typeface="微软雅黑" panose="020B0503020204020204" charset="-122"/>
                <a:ea typeface="微软雅黑" panose="020B0503020204020204" charset="-122"/>
                <a:sym typeface="+mn-ea"/>
              </a:rPr>
              <a:t>快速</a:t>
            </a:r>
            <a:r>
              <a:rPr lang="en-US" altLang="zh-CN">
                <a:solidFill>
                  <a:srgbClr val="000000"/>
                </a:solidFill>
                <a:latin typeface="微软雅黑" panose="020B0503020204020204" charset="-122"/>
                <a:ea typeface="微软雅黑" panose="020B0503020204020204" charset="-122"/>
                <a:sym typeface="+mn-ea"/>
              </a:rPr>
              <a:t>UV</a:t>
            </a:r>
            <a:r>
              <a:rPr lang="zh-CN" altLang="en-US">
                <a:solidFill>
                  <a:srgbClr val="000000"/>
                </a:solidFill>
                <a:latin typeface="微软雅黑" panose="020B0503020204020204" charset="-122"/>
                <a:ea typeface="微软雅黑" panose="020B0503020204020204" charset="-122"/>
                <a:sym typeface="+mn-ea"/>
              </a:rPr>
              <a:t>展开和导出（处理潜在的遮挡问题）</a:t>
            </a:r>
            <a:endParaRPr lang="zh-CN" altLang="en-US" b="0">
              <a:solidFill>
                <a:srgbClr val="000000"/>
              </a:solidFill>
              <a:latin typeface="微软雅黑" panose="020B0503020204020204" charset="-122"/>
              <a:ea typeface="微软雅黑" panose="020B0503020204020204" charset="-122"/>
            </a:endParaRPr>
          </a:p>
          <a:p>
            <a:pPr indent="112395" algn="l" fontAlgn="auto">
              <a:lnSpc>
                <a:spcPct val="150000"/>
              </a:lnSpc>
            </a:pPr>
            <a:endParaRPr lang="zh-CN" altLang="en-US" b="0">
              <a:solidFill>
                <a:srgbClr val="000000"/>
              </a:solidFill>
              <a:latin typeface="微软雅黑" panose="020B0503020204020204" charset="-122"/>
              <a:ea typeface="微软雅黑" panose="020B0503020204020204" charset="-122"/>
            </a:endParaRPr>
          </a:p>
          <a:p>
            <a:pPr marL="0" indent="0">
              <a:buNone/>
            </a:pPr>
            <a:endParaRPr lang="zh-CN" altLang="en-US"/>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AIGCmesh</a:t>
            </a:r>
            <a:r>
              <a:rPr lang="zh-CN" altLang="en-US"/>
              <a:t>的一些案例</a:t>
            </a:r>
            <a:r>
              <a:rPr lang="zh-CN" altLang="en-US"/>
              <a:t>方法</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zh-CN" altLang="en-US"/>
              <a:t>在显式的</a:t>
            </a:r>
            <a:r>
              <a:rPr lang="en-US" altLang="zh-CN"/>
              <a:t>3D</a:t>
            </a:r>
            <a:r>
              <a:rPr lang="zh-CN" altLang="en-US"/>
              <a:t>表示上训练自动编码器：</a:t>
            </a:r>
            <a:endParaRPr lang="zh-CN" altLang="en-US"/>
          </a:p>
          <a:p>
            <a:pPr marL="0" indent="0">
              <a:buNone/>
            </a:pPr>
            <a:r>
              <a:rPr lang="en-US" altLang="zh-CN"/>
              <a:t>1</a:t>
            </a:r>
            <a:r>
              <a:rPr lang="zh-CN" altLang="en-US"/>
              <a:t>在点云上训练自动编码器，并使用</a:t>
            </a:r>
            <a:r>
              <a:rPr lang="en-US" altLang="zh-CN"/>
              <a:t>GANs[ 19 ]</a:t>
            </a:r>
            <a:r>
              <a:rPr lang="zh-CN" altLang="en-US"/>
              <a:t>和</a:t>
            </a:r>
            <a:r>
              <a:rPr lang="en-US" altLang="zh-CN"/>
              <a:t>GMMs[ 8 ]</a:t>
            </a:r>
            <a:r>
              <a:rPr lang="zh-CN" altLang="en-US"/>
              <a:t>对生成的潜在空间进行建模。</a:t>
            </a:r>
            <a:r>
              <a:rPr lang="en-US" altLang="zh-CN"/>
              <a:t> </a:t>
            </a:r>
            <a:endParaRPr lang="en-US" altLang="zh-CN"/>
          </a:p>
          <a:p>
            <a:pPr marL="0" indent="0">
              <a:buNone/>
            </a:pPr>
            <a:r>
              <a:rPr lang="en-US" altLang="zh-CN"/>
              <a:t>Panos Achlioptas, Olga Diamanti, Ioannis Mitliagkas, and Leonidas Guibas. Learning represen_x0002_tations and generative models for 3d point clouds. arXiv:1707.02392, 2017.</a:t>
            </a:r>
            <a:endParaRPr lang="en-US" altLang="zh-CN"/>
          </a:p>
          <a:p>
            <a:pPr marL="0" indent="0">
              <a:buNone/>
            </a:pPr>
            <a:r>
              <a:rPr lang="en-US" altLang="zh-CN"/>
              <a:t>2</a:t>
            </a:r>
            <a:r>
              <a:rPr lang="zh-CN" altLang="en-US"/>
              <a:t>训练了一个点云自动编码器，但其解码器本身是一个条件生成模型（即对点云中单个点进行归一化流处理），同时采用归一化流</a:t>
            </a:r>
            <a:r>
              <a:rPr lang="zh-CN" altLang="en-US">
                <a:sym typeface="+mn-ea"/>
              </a:rPr>
              <a:t>来建模潜在空间</a:t>
            </a:r>
            <a:endParaRPr lang="zh-CN" altLang="en-US"/>
          </a:p>
          <a:p>
            <a:pPr marL="0" indent="0">
              <a:buNone/>
            </a:pPr>
            <a:r>
              <a:rPr lang="en-US" altLang="zh-CN"/>
              <a:t>Guandao Yang, Xun Huang, Zekun Hao, Ming-Yu Liu, Serge Belongie, and Bharath Hariharan.Pointflow: 3d point cloud generation with continuous normalizing flows. arXiv:1906.12320,2019.</a:t>
            </a:r>
            <a:endParaRPr lang="en-US" altLang="zh-CN"/>
          </a:p>
          <a:p>
            <a:pPr marL="0" indent="0">
              <a:buNone/>
            </a:pPr>
            <a:r>
              <a:rPr lang="en-US" altLang="zh-CN"/>
              <a:t>3</a:t>
            </a:r>
            <a:r>
              <a:rPr lang="zh-CN" altLang="en-US"/>
              <a:t>和</a:t>
            </a:r>
            <a:r>
              <a:rPr lang="en-US" altLang="zh-CN"/>
              <a:t>2</a:t>
            </a:r>
            <a:r>
              <a:rPr lang="zh-CN" altLang="en-US"/>
              <a:t>类似，但使用扩散模型作为解码器而非归一化流。</a:t>
            </a:r>
            <a:r>
              <a:rPr lang="en-US" altLang="zh-CN"/>
              <a:t> Shitong Luo and Wei Hu. Diffusion probabilistic models for 3d point cloud generation.</a:t>
            </a:r>
            <a:endParaRPr lang="en-US" altLang="zh-CN"/>
          </a:p>
          <a:p>
            <a:pPr marL="0" indent="0">
              <a:buNone/>
            </a:pPr>
            <a:r>
              <a:rPr lang="en-US" altLang="zh-CN"/>
              <a:t>arXiv:2103.01458, 2021.</a:t>
            </a:r>
            <a:endParaRPr lang="en-US" altLang="zh-CN"/>
          </a:p>
          <a:p>
            <a:pPr marL="0" indent="0">
              <a:buNone/>
            </a:pPr>
            <a:endParaRPr lang="zh-CN"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AIGCmesh</a:t>
            </a:r>
            <a:r>
              <a:rPr lang="zh-CN" altLang="en-US">
                <a:sym typeface="+mn-ea"/>
              </a:rPr>
              <a:t>的一些案例方法</a:t>
            </a:r>
            <a:endParaRPr lang="zh-CN" altLang="en-US"/>
          </a:p>
        </p:txBody>
      </p:sp>
      <p:sp>
        <p:nvSpPr>
          <p:cNvPr id="3" name="内容占位符 2"/>
          <p:cNvSpPr>
            <a:spLocks noGrp="1"/>
          </p:cNvSpPr>
          <p:nvPr>
            <p:ph idx="1"/>
            <p:custDataLst>
              <p:tags r:id="rId2"/>
            </p:custDataLst>
          </p:nvPr>
        </p:nvSpPr>
        <p:spPr/>
        <p:txBody>
          <a:bodyPr>
            <a:normAutofit/>
          </a:bodyPr>
          <a:p>
            <a:pPr marL="0" indent="0">
              <a:buNone/>
            </a:pPr>
            <a:r>
              <a:rPr lang="zh-CN" altLang="en-US">
                <a:sym typeface="+mn-ea"/>
              </a:rPr>
              <a:t>在显式的</a:t>
            </a:r>
            <a:r>
              <a:rPr lang="en-US" altLang="zh-CN">
                <a:sym typeface="+mn-ea"/>
              </a:rPr>
              <a:t>3D</a:t>
            </a:r>
            <a:r>
              <a:rPr lang="zh-CN" altLang="en-US">
                <a:sym typeface="+mn-ea"/>
              </a:rPr>
              <a:t>表示上训练自动编码器：</a:t>
            </a:r>
            <a:endParaRPr lang="zh-CN" altLang="en-US"/>
          </a:p>
          <a:p>
            <a:pPr marL="0" indent="0">
              <a:buNone/>
            </a:pPr>
            <a:r>
              <a:rPr lang="en-US" altLang="zh-CN"/>
              <a:t>4</a:t>
            </a:r>
            <a:r>
              <a:rPr lang="zh-CN" altLang="en-US"/>
              <a:t>训练一个分层自动编码器，其中第二阶段对潜在向量的点云进行编码，而不是单个潜在代码，在分层的两个阶段都采用了扩散模型。</a:t>
            </a:r>
            <a:r>
              <a:rPr lang="en-US" altLang="zh-CN"/>
              <a:t> </a:t>
            </a:r>
            <a:endParaRPr lang="en-US" altLang="zh-CN"/>
          </a:p>
          <a:p>
            <a:pPr marL="0" indent="0">
              <a:buNone/>
            </a:pPr>
            <a:r>
              <a:rPr lang="en-US" altLang="zh-CN"/>
              <a:t>Xiaohui Zeng, Arash Vahdat, Francis Williams, Zan Gojcic, Or Litany, Sanja Fidler, and Karsten Kreis. Lion: Latent point diffusion models for 3d shape generation. arXiv:2210.06978, 2022.</a:t>
            </a:r>
            <a:endParaRPr lang="en-US" altLang="zh-CN"/>
          </a:p>
          <a:p>
            <a:pPr marL="0" indent="0">
              <a:buNone/>
            </a:pPr>
            <a:r>
              <a:rPr lang="en-US" altLang="zh-CN"/>
              <a:t>5</a:t>
            </a:r>
            <a:r>
              <a:rPr lang="zh-CN" altLang="en-US"/>
              <a:t>训练基于体素占据网格的两阶段向量量化自编码器，并采用自回归模型对生成的潜在序列进行建模</a:t>
            </a:r>
            <a:endParaRPr lang="zh-CN" altLang="en-US"/>
          </a:p>
          <a:p>
            <a:pPr marL="0" indent="0">
              <a:buNone/>
            </a:pPr>
            <a:r>
              <a:rPr lang="en-US" altLang="zh-CN"/>
              <a:t>Aditya Sanghi, Rao Fu, Vivian Liu, Karl Willis, Hooman Shayani, Amir Hosein Khasahmadi,</a:t>
            </a:r>
            <a:endParaRPr lang="en-US" altLang="zh-CN"/>
          </a:p>
          <a:p>
            <a:pPr marL="0" indent="0">
              <a:buNone/>
            </a:pPr>
            <a:r>
              <a:rPr lang="en-US" altLang="zh-CN"/>
              <a:t>Srinath Sridhar, and Daniel Ritchie. Textcraft: Zero-shot generation of high-fidelity and diverse shapes from text. arXiv:2211.01427, 2022.</a:t>
            </a:r>
            <a:endParaRPr lang="en-US" altLang="zh-CN"/>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AIGCmesh</a:t>
            </a:r>
            <a:r>
              <a:rPr lang="zh-CN" altLang="en-US">
                <a:sym typeface="+mn-ea"/>
              </a:rPr>
              <a:t>的一些案例方法</a:t>
            </a:r>
            <a:endParaRPr lang="zh-CN" altLang="en-US"/>
          </a:p>
        </p:txBody>
      </p:sp>
      <p:sp>
        <p:nvSpPr>
          <p:cNvPr id="3" name="内容占位符 2"/>
          <p:cNvSpPr>
            <a:spLocks noGrp="1"/>
          </p:cNvSpPr>
          <p:nvPr>
            <p:ph idx="1"/>
            <p:custDataLst>
              <p:tags r:id="rId2"/>
            </p:custDataLst>
          </p:nvPr>
        </p:nvSpPr>
        <p:spPr/>
        <p:txBody>
          <a:bodyPr>
            <a:normAutofit fontScale="90000"/>
          </a:bodyPr>
          <a:p>
            <a:pPr marL="0" indent="0">
              <a:buNone/>
            </a:pPr>
            <a:r>
              <a:rPr lang="zh-CN" altLang="en-US">
                <a:sym typeface="+mn-ea"/>
              </a:rPr>
              <a:t>具有隐式解码器的三维自动编码器：</a:t>
            </a:r>
            <a:endParaRPr lang="zh-CN" altLang="en-US"/>
          </a:p>
          <a:p>
            <a:pPr marL="0" indent="0">
              <a:buNone/>
            </a:pPr>
            <a:r>
              <a:rPr lang="en-US"/>
              <a:t>1</a:t>
            </a:r>
            <a:r>
              <a:rPr lang="zh-CN" altLang="en-US"/>
              <a:t>将</a:t>
            </a:r>
            <a:r>
              <a:rPr lang="en-US" altLang="zh-CN"/>
              <a:t>SDF</a:t>
            </a:r>
            <a:r>
              <a:rPr lang="zh-CN" altLang="en-US"/>
              <a:t>样本编码为潜在变量，这些潜在变量用于条件化隐式</a:t>
            </a:r>
            <a:r>
              <a:rPr lang="en-US" altLang="zh-CN"/>
              <a:t>SDF</a:t>
            </a:r>
            <a:r>
              <a:rPr lang="zh-CN" altLang="en-US"/>
              <a:t>模型</a:t>
            </a:r>
            <a:endParaRPr lang="zh-CN" altLang="en-US"/>
          </a:p>
          <a:p>
            <a:pPr marL="0" indent="0">
              <a:buNone/>
            </a:pPr>
            <a:r>
              <a:rPr lang="en-US" altLang="zh-CN"/>
              <a:t>Rao Fu, Xiao Zhan, Yiwen Chen, Daniel Ritchie, and Srinath Sridhar. Shapecrafter: A recursive text-conditioned 3d shape generation model. arXiv:2207.09446, 2022</a:t>
            </a:r>
            <a:endParaRPr lang="en-US" altLang="zh-CN"/>
          </a:p>
          <a:p>
            <a:pPr marL="0" indent="0">
              <a:buNone/>
            </a:pPr>
            <a:r>
              <a:rPr lang="en-US" altLang="zh-CN"/>
              <a:t>2</a:t>
            </a:r>
            <a:r>
              <a:rPr lang="zh-CN" altLang="en-US"/>
              <a:t>将体素网格编码为潜在变量，这些变量用于条件化隐式占据网络</a:t>
            </a:r>
            <a:endParaRPr lang="zh-CN" altLang="en-US"/>
          </a:p>
          <a:p>
            <a:pPr marL="0" indent="0">
              <a:buNone/>
            </a:pPr>
            <a:r>
              <a:rPr lang="en-US" altLang="zh-CN"/>
              <a:t>Aditya Sanghi, Hang Chu, Joseph G. Lambourne, Ye Wang, Chin-Yi Cheng, Marco Fumero,</a:t>
            </a:r>
            <a:endParaRPr lang="en-US" altLang="zh-CN"/>
          </a:p>
          <a:p>
            <a:pPr marL="0" indent="0">
              <a:buNone/>
            </a:pPr>
            <a:r>
              <a:rPr lang="en-US" altLang="zh-CN"/>
              <a:t>and Kamal Rahimi Malekshan. Clip-forge: Towards zero-shot text-to-shape generation.</a:t>
            </a:r>
            <a:endParaRPr lang="en-US" altLang="zh-CN"/>
          </a:p>
          <a:p>
            <a:pPr marL="0" indent="0">
              <a:buNone/>
            </a:pPr>
            <a:r>
              <a:rPr lang="en-US" altLang="zh-CN"/>
              <a:t>arXiv:2110.02624, 2021.</a:t>
            </a:r>
            <a:endParaRPr lang="en-US" altLang="zh-CN"/>
          </a:p>
          <a:p>
            <a:pPr marL="0" indent="0">
              <a:buNone/>
            </a:pPr>
            <a:r>
              <a:rPr lang="en-US" altLang="zh-CN"/>
              <a:t>3</a:t>
            </a:r>
            <a:r>
              <a:rPr lang="zh-CN" altLang="en-US"/>
              <a:t>训练基于体素的编码器，并将隐式占用和颜色解码器分开</a:t>
            </a:r>
            <a:endParaRPr lang="zh-CN" altLang="en-US"/>
          </a:p>
          <a:p>
            <a:pPr marL="0" indent="0">
              <a:buNone/>
            </a:pPr>
            <a:r>
              <a:rPr lang="en-US" altLang="zh-CN"/>
              <a:t>Zhengzhe Liu, Yi Wang, Xiaojuan Qi, and Chi-Wing Fu. Towards implicit text-guided 3d shape</a:t>
            </a:r>
            <a:endParaRPr lang="en-US" altLang="zh-CN"/>
          </a:p>
          <a:p>
            <a:pPr marL="0" indent="0">
              <a:buNone/>
            </a:pPr>
            <a:r>
              <a:rPr lang="en-US" altLang="zh-CN"/>
              <a:t>generation. arXiv:2203.14622, 2022.</a:t>
            </a:r>
            <a:endParaRPr lang="en-US" altLang="zh-CN"/>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AIGCmesh</a:t>
            </a:r>
            <a:r>
              <a:rPr lang="zh-CN" altLang="en-US">
                <a:sym typeface="+mn-ea"/>
              </a:rPr>
              <a:t>的一些案例方法</a:t>
            </a:r>
            <a:endParaRPr lang="zh-CN" altLang="en-US"/>
          </a:p>
        </p:txBody>
      </p:sp>
      <p:sp>
        <p:nvSpPr>
          <p:cNvPr id="3" name="内容占位符 2"/>
          <p:cNvSpPr>
            <a:spLocks noGrp="1"/>
          </p:cNvSpPr>
          <p:nvPr>
            <p:ph idx="1"/>
            <p:custDataLst>
              <p:tags r:id="rId2"/>
            </p:custDataLst>
          </p:nvPr>
        </p:nvSpPr>
        <p:spPr/>
        <p:txBody>
          <a:bodyPr>
            <a:normAutofit/>
          </a:bodyPr>
          <a:p>
            <a:pPr marL="0" indent="0">
              <a:buNone/>
            </a:pPr>
            <a:r>
              <a:rPr lang="zh-CN" altLang="en-US">
                <a:sym typeface="+mn-ea"/>
              </a:rPr>
              <a:t>具有隐式解码器的三维自动编码器：</a:t>
            </a:r>
            <a:endParaRPr lang="zh-CN" altLang="en-US"/>
          </a:p>
          <a:p>
            <a:pPr marL="0" indent="0">
              <a:buNone/>
            </a:pPr>
            <a:r>
              <a:rPr lang="en-US" altLang="zh-CN"/>
              <a:t>4</a:t>
            </a:r>
            <a:r>
              <a:rPr lang="zh-CN" altLang="en-US"/>
              <a:t>将场景的渲染视图编码为</a:t>
            </a:r>
            <a:r>
              <a:rPr lang="en-US" altLang="zh-CN"/>
              <a:t> VAE </a:t>
            </a:r>
            <a:r>
              <a:rPr lang="zh-CN" altLang="en-US"/>
              <a:t>的潜在向量，并利用该潜在向量对</a:t>
            </a:r>
            <a:r>
              <a:rPr lang="en-US" altLang="zh-CN"/>
              <a:t>NeRF</a:t>
            </a:r>
            <a:r>
              <a:rPr lang="zh-CN" altLang="en-US"/>
              <a:t>进行条件化处理</a:t>
            </a:r>
            <a:endParaRPr lang="zh-CN" altLang="en-US"/>
          </a:p>
          <a:p>
            <a:pPr marL="0" indent="0">
              <a:buNone/>
            </a:pPr>
            <a:r>
              <a:rPr lang="en-US" altLang="zh-CN"/>
              <a:t>Adam R Kosiorek, Heiko Strathmann, Daniel Zoran, Pol Moreno, Rosalia Schneider, Sona</a:t>
            </a:r>
            <a:r>
              <a:rPr lang="en-US" altLang="en-US"/>
              <a:t>ˇ</a:t>
            </a:r>
            <a:endParaRPr lang="en-US" altLang="en-US"/>
          </a:p>
          <a:p>
            <a:pPr marL="0" indent="0">
              <a:buNone/>
            </a:pPr>
            <a:r>
              <a:rPr lang="en-US" altLang="zh-CN"/>
              <a:t>Mokr</a:t>
            </a:r>
            <a:r>
              <a:rPr lang="en-US" altLang="en-US"/>
              <a:t>á</a:t>
            </a:r>
            <a:r>
              <a:rPr lang="en-US" altLang="zh-CN"/>
              <a:t>, and Danilo J Rezende. NeRF-VAE: A geometry aware 3D scene generative model.</a:t>
            </a:r>
            <a:endParaRPr lang="en-US" altLang="zh-CN"/>
          </a:p>
          <a:p>
            <a:pPr marL="0" indent="0">
              <a:buNone/>
            </a:pPr>
            <a:r>
              <a:rPr lang="en-US" altLang="zh-CN"/>
              <a:t>arXiv:2104.00587, April 2021.</a:t>
            </a:r>
            <a:endParaRPr lang="zh-CN" altLang="en-US"/>
          </a:p>
          <a:p>
            <a:pPr marL="0" indent="0">
              <a:buNone/>
            </a:pPr>
            <a:r>
              <a:rPr lang="en-US" altLang="zh-CN"/>
              <a:t>5</a:t>
            </a:r>
            <a:r>
              <a:rPr lang="zh-CN" altLang="en-US"/>
              <a:t>采用基于</a:t>
            </a:r>
            <a:r>
              <a:rPr lang="en-US" altLang="zh-CN"/>
              <a:t>Transformer</a:t>
            </a:r>
            <a:r>
              <a:rPr lang="zh-CN" altLang="en-US"/>
              <a:t>的架构，直接生成基于渲染视图条件化的</a:t>
            </a:r>
            <a:r>
              <a:rPr lang="en-US" altLang="zh-CN"/>
              <a:t> MLP </a:t>
            </a:r>
            <a:r>
              <a:rPr lang="zh-CN" altLang="en-US"/>
              <a:t>参数</a:t>
            </a:r>
            <a:br>
              <a:rPr lang="zh-CN" altLang="en-US"/>
            </a:br>
            <a:r>
              <a:rPr lang="en-US" altLang="zh-CN"/>
              <a:t>Yinbo Chen and Xiaolong Wang. Transformers as meta-learners for implicit neural representa_x0002_tions, 2022. URL https://arxiv.org/abs/2208.02801.</a:t>
            </a:r>
            <a:endParaRPr lang="en-US" altLang="zh-CN"/>
          </a:p>
          <a:p>
            <a:pPr marL="0" indent="0">
              <a:buNone/>
            </a:pPr>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AIGCmesh</a:t>
            </a:r>
            <a:r>
              <a:rPr lang="zh-CN" altLang="en-US">
                <a:sym typeface="+mn-ea"/>
              </a:rPr>
              <a:t>的一些案例方法</a:t>
            </a:r>
            <a:endParaRPr lang="zh-CN" altLang="en-US"/>
          </a:p>
        </p:txBody>
      </p:sp>
      <p:sp>
        <p:nvSpPr>
          <p:cNvPr id="3" name="内容占位符 2"/>
          <p:cNvSpPr>
            <a:spLocks noGrp="1"/>
          </p:cNvSpPr>
          <p:nvPr>
            <p:ph idx="1"/>
            <p:custDataLst>
              <p:tags r:id="rId2"/>
            </p:custDataLst>
          </p:nvPr>
        </p:nvSpPr>
        <p:spPr/>
        <p:txBody>
          <a:bodyPr>
            <a:normAutofit lnSpcReduction="10000"/>
          </a:bodyPr>
          <a:p>
            <a:pPr marL="0" indent="0">
              <a:buNone/>
            </a:pPr>
            <a:r>
              <a:rPr lang="zh-CN" altLang="en-US"/>
              <a:t>在不使用学习编码器的情况下生成潜在条件隐式三维表征：</a:t>
            </a:r>
            <a:endParaRPr lang="zh-CN" altLang="en-US"/>
          </a:p>
          <a:p>
            <a:pPr marL="0" indent="0">
              <a:buNone/>
            </a:pPr>
            <a:r>
              <a:rPr lang="en-US" altLang="zh-CN"/>
              <a:t>1</a:t>
            </a:r>
            <a:r>
              <a:rPr lang="zh-CN" altLang="en-US"/>
              <a:t>训练一个所谓的</a:t>
            </a:r>
            <a:r>
              <a:rPr lang="en-US" altLang="zh-CN"/>
              <a:t>“</a:t>
            </a:r>
            <a:r>
              <a:rPr lang="zh-CN" altLang="en-US"/>
              <a:t>自动解码器</a:t>
            </a:r>
            <a:r>
              <a:rPr lang="en-US" altLang="zh-CN"/>
              <a:t>”</a:t>
            </a:r>
            <a:r>
              <a:rPr lang="zh-CN" altLang="en-US"/>
              <a:t>，该解码器使用一个学习到的嵌入向量表来处理数据集中的每个样本。训练了一个隐式的</a:t>
            </a:r>
            <a:r>
              <a:rPr lang="en-US" altLang="zh-CN"/>
              <a:t>SDF</a:t>
            </a:r>
            <a:r>
              <a:rPr lang="zh-CN" altLang="en-US"/>
              <a:t>解码器，该解码器基于这些样本的潜在向量进行条件化</a:t>
            </a:r>
            <a:endParaRPr lang="zh-CN" altLang="en-US"/>
          </a:p>
          <a:p>
            <a:pPr marL="0" indent="0">
              <a:buNone/>
            </a:pPr>
            <a:r>
              <a:rPr lang="en-US" altLang="zh-CN"/>
              <a:t>Jeong Joon Park, Peter Florence, Julian Straub, Richard Newcombe, and Steven Love_x0002_grove. Deepsdf: Learning continuous signed distance functions for shape representation.arXiv:1901.05103, 2019.</a:t>
            </a:r>
            <a:endParaRPr lang="en-US" altLang="zh-CN"/>
          </a:p>
          <a:p>
            <a:pPr marL="0" indent="0">
              <a:buNone/>
            </a:pPr>
            <a:r>
              <a:rPr lang="en-US" altLang="zh-CN"/>
              <a:t>2</a:t>
            </a:r>
            <a:r>
              <a:rPr lang="zh-CN" altLang="en-US"/>
              <a:t>采用与</a:t>
            </a:r>
            <a:r>
              <a:rPr lang="en-US" altLang="zh-CN"/>
              <a:t>1</a:t>
            </a:r>
            <a:r>
              <a:rPr lang="zh-CN" altLang="en-US"/>
              <a:t>类似的策略，通过学习每个场景的潜在编码来调节</a:t>
            </a:r>
            <a:r>
              <a:rPr lang="en-US" altLang="zh-CN"/>
              <a:t>NeRF</a:t>
            </a:r>
            <a:r>
              <a:rPr lang="zh-CN" altLang="en-US"/>
              <a:t>解码器</a:t>
            </a:r>
            <a:br>
              <a:rPr lang="zh-CN" altLang="en-US"/>
            </a:br>
            <a:r>
              <a:rPr lang="en-US" altLang="zh-CN"/>
              <a:t>Miguel Angel Bautista, Pengsheng Guo, Samira Abnar, Walter Talbott, Alexander Toshev,Zhuoyuan Chen, Laurent Dinh, Shuangfei Zhai, Hanlin Goh, Daniel Ulbricht, Afshin De_x0002_hghan, and Josh Susskind. Gaudi: A neural architect for immersive 3d scene generation.arXiv:2207.13751, 2022.</a:t>
            </a:r>
            <a:endParaRPr lang="en-US" altLang="zh-CN"/>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AIGCmesh</a:t>
            </a:r>
            <a:r>
              <a:rPr lang="zh-CN" altLang="en-US">
                <a:sym typeface="+mn-ea"/>
              </a:rPr>
              <a:t>的一些案例方法</a:t>
            </a:r>
            <a:endParaRPr lang="zh-CN" altLang="en-US"/>
          </a:p>
        </p:txBody>
      </p:sp>
      <p:sp>
        <p:nvSpPr>
          <p:cNvPr id="3" name="内容占位符 2"/>
          <p:cNvSpPr>
            <a:spLocks noGrp="1"/>
          </p:cNvSpPr>
          <p:nvPr>
            <p:ph idx="1"/>
            <p:custDataLst>
              <p:tags r:id="rId2"/>
            </p:custDataLst>
          </p:nvPr>
        </p:nvSpPr>
        <p:spPr/>
        <p:txBody>
          <a:bodyPr>
            <a:normAutofit fontScale="90000" lnSpcReduction="20000"/>
          </a:bodyPr>
          <a:p>
            <a:pPr marL="0" indent="0">
              <a:buNone/>
            </a:pPr>
            <a:r>
              <a:rPr lang="zh-CN" altLang="en-US"/>
              <a:t>梯度优化技术生成单个样本：</a:t>
            </a:r>
            <a:endParaRPr lang="zh-CN" altLang="en-US"/>
          </a:p>
          <a:p>
            <a:pPr marL="0" indent="0">
              <a:buNone/>
            </a:pPr>
            <a:r>
              <a:rPr lang="en-US" altLang="zh-CN"/>
              <a:t>1</a:t>
            </a:r>
            <a:r>
              <a:rPr lang="zh-CN" altLang="en-US"/>
              <a:t>采用基于</a:t>
            </a:r>
            <a:r>
              <a:rPr lang="en-US" altLang="zh-CN"/>
              <a:t>CLIP</a:t>
            </a:r>
            <a:r>
              <a:rPr lang="zh-CN" altLang="en-US"/>
              <a:t>的优化目标，通过调整</a:t>
            </a:r>
            <a:r>
              <a:rPr lang="en-US" altLang="zh-CN"/>
              <a:t>NeRF</a:t>
            </a:r>
            <a:r>
              <a:rPr lang="zh-CN" altLang="en-US"/>
              <a:t>参数来匹配文本提示</a:t>
            </a:r>
            <a:endParaRPr lang="zh-CN" altLang="en-US"/>
          </a:p>
          <a:p>
            <a:pPr marL="0" indent="0">
              <a:buNone/>
            </a:pPr>
            <a:r>
              <a:rPr lang="en-US" altLang="zh-CN"/>
              <a:t>Ajay Jain, Ben Mildenhall, Jonathan T. Barron, Pieter Abbeel, and Ben Poole. Zero-shot</a:t>
            </a:r>
            <a:endParaRPr lang="en-US" altLang="zh-CN"/>
          </a:p>
          <a:p>
            <a:pPr marL="0" indent="0">
              <a:buNone/>
            </a:pPr>
            <a:r>
              <a:rPr lang="en-US" altLang="zh-CN"/>
              <a:t>text-guided object generation with dream fields. arXiv:2112.01455, 2021.</a:t>
            </a:r>
            <a:endParaRPr lang="en-US" altLang="zh-CN"/>
          </a:p>
          <a:p>
            <a:pPr marL="0" indent="0">
              <a:buNone/>
            </a:pPr>
            <a:r>
              <a:rPr lang="en-US" altLang="zh-CN"/>
              <a:t>2</a:t>
            </a:r>
            <a:r>
              <a:rPr lang="zh-CN" altLang="en-US"/>
              <a:t>采用类似方法，但其优化目标基于文本条件图像扩散模型的输出</a:t>
            </a:r>
            <a:br>
              <a:rPr lang="zh-CN" altLang="en-US"/>
            </a:br>
            <a:r>
              <a:rPr lang="en-US" altLang="zh-CN"/>
              <a:t>Ben Poole, Ajay Jain, Jonathan T. Barron, and Ben Mildenhall. Dreamfusion: Text-to-3d using 2d diffusion. arXiv:2209.14988, 2022.</a:t>
            </a:r>
            <a:endParaRPr lang="en-US" altLang="zh-CN"/>
          </a:p>
          <a:p>
            <a:pPr marL="0" indent="0">
              <a:buNone/>
            </a:pPr>
            <a:r>
              <a:rPr lang="en-US" altLang="zh-CN"/>
              <a:t>3</a:t>
            </a:r>
            <a:r>
              <a:rPr lang="zh-CN" altLang="en-US"/>
              <a:t>提出了一种利用文本到图像扩散模型的不同方法，使用它们来优化可微分的</a:t>
            </a:r>
            <a:r>
              <a:rPr lang="en-US" altLang="zh-CN"/>
              <a:t>3D</a:t>
            </a:r>
            <a:r>
              <a:rPr lang="zh-CN" altLang="en-US"/>
              <a:t>体素网格，而不是基于</a:t>
            </a:r>
            <a:r>
              <a:rPr lang="en-US" altLang="zh-CN"/>
              <a:t> MLP </a:t>
            </a:r>
            <a:r>
              <a:rPr lang="zh-CN" altLang="en-US"/>
              <a:t>的</a:t>
            </a:r>
            <a:r>
              <a:rPr lang="en-US" altLang="zh-CN"/>
              <a:t>NeRF</a:t>
            </a:r>
            <a:r>
              <a:rPr lang="zh-CN" altLang="en-US"/>
              <a:t>。</a:t>
            </a:r>
            <a:endParaRPr lang="zh-CN" altLang="en-US"/>
          </a:p>
          <a:p>
            <a:pPr marL="0" indent="0">
              <a:buNone/>
            </a:pPr>
            <a:r>
              <a:rPr lang="en-US" altLang="zh-CN"/>
              <a:t>Tengfei Wang, Bo Zhang, Ting Zhang, Shuyang Gu, Jianmin Bao, Tadas Baltrusaitis, Jingjing</a:t>
            </a:r>
            <a:endParaRPr lang="en-US" altLang="zh-CN"/>
          </a:p>
          <a:p>
            <a:pPr marL="0" indent="0">
              <a:buNone/>
            </a:pPr>
            <a:r>
              <a:rPr lang="en-US" altLang="zh-CN"/>
              <a:t>Shen, Dong Chen, Fang Wen, Qifeng Chen, and Baining Guo. Rodin: A generative model</a:t>
            </a:r>
            <a:endParaRPr lang="en-US" altLang="zh-CN"/>
          </a:p>
          <a:p>
            <a:pPr marL="0" indent="0">
              <a:buNone/>
            </a:pPr>
            <a:r>
              <a:rPr lang="en-US" altLang="zh-CN"/>
              <a:t>for sculpting 3d digital avatars using diffusion, 2022. URL https://arxiv.org/abs/2212.</a:t>
            </a:r>
            <a:endParaRPr lang="en-US" altLang="zh-CN"/>
          </a:p>
          <a:p>
            <a:pPr marL="0" indent="0">
              <a:buNone/>
            </a:pPr>
            <a:r>
              <a:rPr lang="en-US" altLang="zh-CN"/>
              <a:t>06135.</a:t>
            </a:r>
            <a:endParaRPr lang="en-US" altLang="zh-CN"/>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BEAUTIFY_FLAG" val="#wm#"/>
  <p:tag name="KSO_WM_TEMPLATE_CATEGORY" val="custom"/>
  <p:tag name="KSO_WM_TEMPLATE_INDEX" val="2020508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BEAUTIFY_FLAG" val="#wm#"/>
  <p:tag name="KSO_WM_TEMPLATE_CATEGORY" val="custom"/>
  <p:tag name="KSO_WM_TEMPLATE_INDEX" val="2020508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BEAUTIFY_FLAG" val="#wm#"/>
  <p:tag name="KSO_WM_TEMPLATE_CATEGORY" val="custom"/>
  <p:tag name="KSO_WM_TEMPLATE_INDEX" val="2020508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5383</Words>
  <Application>WPS 演示</Application>
  <PresentationFormat>宽屏</PresentationFormat>
  <Paragraphs>110</Paragraphs>
  <Slides>17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Arial</vt:lpstr>
      <vt:lpstr>宋体</vt:lpstr>
      <vt:lpstr>Wingdings</vt:lpstr>
      <vt:lpstr>Wingdings</vt:lpstr>
      <vt:lpstr>微软雅黑</vt:lpstr>
      <vt:lpstr>Arial Unicode MS</vt:lpstr>
      <vt:lpstr>Calibri</vt:lpstr>
      <vt:lpstr>WPS</vt:lpstr>
      <vt:lpstr>工作</vt:lpstr>
      <vt:lpstr>Shap-E文本生成mesh效果</vt:lpstr>
      <vt:lpstr>Shap-E单图生成mesh效果</vt:lpstr>
      <vt:lpstr>Shap-E大致步骤</vt:lpstr>
      <vt:lpstr>Shap-E数据集</vt:lpstr>
      <vt:lpstr>Shap-E编码器</vt:lpstr>
      <vt:lpstr>PowerPoint 演示文稿</vt:lpstr>
      <vt:lpstr>PowerPoint 演示文稿</vt:lpstr>
      <vt:lpstr>PowerPoint 演示文稿</vt:lpstr>
      <vt:lpstr>PowerPoint 演示文稿</vt:lpstr>
      <vt:lpstr>AIGCmesh的一些案例方法</vt:lpstr>
      <vt:lpstr>AIGCmesh的一些案例方法</vt:lpstr>
      <vt:lpstr>AIGCmesh的一些案例方法</vt:lpstr>
      <vt:lpstr>AIGCmesh的一些案例方法</vt:lpstr>
      <vt:lpstr>AIGCmesh的一些案例方法</vt:lpstr>
      <vt:lpstr>AIGCmesh的一些案例方法</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老水</cp:lastModifiedBy>
  <cp:revision>159</cp:revision>
  <dcterms:created xsi:type="dcterms:W3CDTF">2019-06-19T02:08:00Z</dcterms:created>
  <dcterms:modified xsi:type="dcterms:W3CDTF">2025-11-26T05:06:27Z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FA3A862AC4C64E15BA3DD02612CB455B_11</vt:lpwstr>
  </property>
</Properties>
</file>